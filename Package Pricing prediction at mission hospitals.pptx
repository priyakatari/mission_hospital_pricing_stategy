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57" r:id="rId5"/>
    <p:sldId id="275" r:id="rId6"/>
    <p:sldId id="290" r:id="rId7"/>
    <p:sldId id="263" r:id="rId8"/>
    <p:sldId id="277" r:id="rId9"/>
    <p:sldId id="278" r:id="rId10"/>
    <p:sldId id="264" r:id="rId11"/>
    <p:sldId id="280" r:id="rId12"/>
    <p:sldId id="281" r:id="rId13"/>
    <p:sldId id="282" r:id="rId14"/>
    <p:sldId id="262" r:id="rId15"/>
    <p:sldId id="283" r:id="rId16"/>
    <p:sldId id="279" r:id="rId17"/>
    <p:sldId id="267" r:id="rId18"/>
    <p:sldId id="288" r:id="rId19"/>
    <p:sldId id="289" r:id="rId20"/>
    <p:sldId id="284" r:id="rId21"/>
    <p:sldId id="285" r:id="rId22"/>
    <p:sldId id="287" r:id="rId23"/>
    <p:sldId id="265" r:id="rId24"/>
    <p:sldId id="272" r:id="rId25"/>
    <p:sldId id="27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4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1C53C6-8BFE-42C5-A567-B15DCC94302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053F30-B7D6-4076-A231-7DC0861DB844}">
      <dgm:prSet phldrT="[Text]" custT="1"/>
      <dgm:spPr/>
      <dgm:t>
        <a:bodyPr/>
        <a:lstStyle/>
        <a:p>
          <a:r>
            <a:rPr lang="en-US" sz="1600" dirty="0">
              <a:solidFill>
                <a:schemeClr val="tx1"/>
              </a:solidFill>
            </a:rPr>
            <a:t>Mission Hospital is a super-</a:t>
          </a:r>
          <a:r>
            <a:rPr lang="en-US" sz="1600" dirty="0" err="1">
              <a:solidFill>
                <a:schemeClr val="tx1"/>
              </a:solidFill>
            </a:rPr>
            <a:t>speciality</a:t>
          </a:r>
          <a:r>
            <a:rPr lang="en-US" sz="1600" dirty="0">
              <a:solidFill>
                <a:schemeClr val="tx1"/>
              </a:solidFill>
            </a:rPr>
            <a:t> corporate hospital in Durgapur.</a:t>
          </a:r>
        </a:p>
      </dgm:t>
    </dgm:pt>
    <dgm:pt modelId="{DA780644-FF05-4080-8F4D-5BB20DCBAD9E}" type="parTrans" cxnId="{572325A2-2AAB-48CE-AEC0-92A3B111E601}">
      <dgm:prSet/>
      <dgm:spPr/>
      <dgm:t>
        <a:bodyPr/>
        <a:lstStyle/>
        <a:p>
          <a:endParaRPr lang="en-US" sz="1600"/>
        </a:p>
      </dgm:t>
    </dgm:pt>
    <dgm:pt modelId="{169B0475-B31D-4734-ACB1-9905DC81A757}" type="sibTrans" cxnId="{572325A2-2AAB-48CE-AEC0-92A3B111E601}">
      <dgm:prSet/>
      <dgm:spPr/>
      <dgm:t>
        <a:bodyPr/>
        <a:lstStyle/>
        <a:p>
          <a:endParaRPr lang="en-US" sz="1600"/>
        </a:p>
      </dgm:t>
    </dgm:pt>
    <dgm:pt modelId="{57CC0F90-9286-413D-B74E-AB9F296E3104}">
      <dgm:prSet phldrT="[Text]" custT="1"/>
      <dgm:spPr/>
      <dgm:t>
        <a:bodyPr/>
        <a:lstStyle/>
        <a:p>
          <a:r>
            <a:rPr lang="en-US" sz="1600" dirty="0">
              <a:solidFill>
                <a:schemeClr val="tx1"/>
              </a:solidFill>
            </a:rPr>
            <a:t>Handles high patient volumes, especially cardiac and critical-care</a:t>
          </a:r>
        </a:p>
      </dgm:t>
    </dgm:pt>
    <dgm:pt modelId="{A266799C-36E6-48FA-AB35-62619A3981ED}" type="parTrans" cxnId="{B66E48AC-49BB-4638-AB3D-603EE949E8CF}">
      <dgm:prSet/>
      <dgm:spPr/>
      <dgm:t>
        <a:bodyPr/>
        <a:lstStyle/>
        <a:p>
          <a:endParaRPr lang="en-US" sz="1600"/>
        </a:p>
      </dgm:t>
    </dgm:pt>
    <dgm:pt modelId="{1FEE3C05-8FA7-4611-87FF-FAD164C9122F}" type="sibTrans" cxnId="{B66E48AC-49BB-4638-AB3D-603EE949E8CF}">
      <dgm:prSet/>
      <dgm:spPr/>
      <dgm:t>
        <a:bodyPr/>
        <a:lstStyle/>
        <a:p>
          <a:endParaRPr lang="en-US" sz="1600"/>
        </a:p>
      </dgm:t>
    </dgm:pt>
    <dgm:pt modelId="{8CF80BD7-C556-4472-94F9-0879EA25BBE1}">
      <dgm:prSet phldrT="[Text]" custT="1"/>
      <dgm:spPr/>
      <dgm:t>
        <a:bodyPr/>
        <a:lstStyle/>
        <a:p>
          <a:r>
            <a:rPr lang="en-US" sz="1600" dirty="0">
              <a:solidFill>
                <a:schemeClr val="tx1"/>
              </a:solidFill>
            </a:rPr>
            <a:t>Serves international patients from Bhutan, Sri Lanka, and beyond</a:t>
          </a:r>
        </a:p>
      </dgm:t>
    </dgm:pt>
    <dgm:pt modelId="{D850802A-8D7A-48F7-9235-95723C144A8C}" type="parTrans" cxnId="{3596C38B-A088-43D7-B2B9-3DE8B75186E6}">
      <dgm:prSet/>
      <dgm:spPr/>
      <dgm:t>
        <a:bodyPr/>
        <a:lstStyle/>
        <a:p>
          <a:endParaRPr lang="en-US" sz="1600"/>
        </a:p>
      </dgm:t>
    </dgm:pt>
    <dgm:pt modelId="{672B0826-BA74-42D5-A5F6-40311AF13DFD}" type="sibTrans" cxnId="{3596C38B-A088-43D7-B2B9-3DE8B75186E6}">
      <dgm:prSet/>
      <dgm:spPr/>
      <dgm:t>
        <a:bodyPr/>
        <a:lstStyle/>
        <a:p>
          <a:endParaRPr lang="en-US" sz="1600"/>
        </a:p>
      </dgm:t>
    </dgm:pt>
    <dgm:pt modelId="{9A6865C5-6611-4B47-A056-525CC03EBE09}">
      <dgm:prSet custT="1"/>
      <dgm:spPr/>
      <dgm:t>
        <a:bodyPr/>
        <a:lstStyle/>
        <a:p>
          <a:r>
            <a:rPr lang="en-US" sz="1600" dirty="0">
              <a:solidFill>
                <a:schemeClr val="tx1"/>
              </a:solidFill>
            </a:rPr>
            <a:t>State-of-the-art infrastructure and NABH accreditation</a:t>
          </a:r>
        </a:p>
      </dgm:t>
    </dgm:pt>
    <dgm:pt modelId="{39926E61-6CE6-4CFE-AFE1-C6B2810483AF}" type="parTrans" cxnId="{098AA60B-D846-44FB-9364-102EE729DE4A}">
      <dgm:prSet/>
      <dgm:spPr/>
      <dgm:t>
        <a:bodyPr/>
        <a:lstStyle/>
        <a:p>
          <a:endParaRPr lang="en-US" sz="1600"/>
        </a:p>
      </dgm:t>
    </dgm:pt>
    <dgm:pt modelId="{23A77CE3-B6CD-4A2B-9C27-3C83C62BDEAF}" type="sibTrans" cxnId="{098AA60B-D846-44FB-9364-102EE729DE4A}">
      <dgm:prSet/>
      <dgm:spPr/>
      <dgm:t>
        <a:bodyPr/>
        <a:lstStyle/>
        <a:p>
          <a:endParaRPr lang="en-US" sz="1600"/>
        </a:p>
      </dgm:t>
    </dgm:pt>
    <dgm:pt modelId="{AABF8D8E-FBDE-49A1-9F92-873DC12D192B}">
      <dgm:prSet custT="1"/>
      <dgm:spPr/>
      <dgm:t>
        <a:bodyPr/>
        <a:lstStyle/>
        <a:p>
          <a:r>
            <a:rPr lang="en-US" sz="1600" dirty="0">
              <a:solidFill>
                <a:schemeClr val="tx1"/>
              </a:solidFill>
            </a:rPr>
            <a:t>Strong tie-ups with government schemes and public insurance programs.</a:t>
          </a:r>
        </a:p>
      </dgm:t>
    </dgm:pt>
    <dgm:pt modelId="{8C8AA629-D199-4DD0-80A7-12A0712FA388}" type="parTrans" cxnId="{B3EA27AD-0C2F-4043-97D6-2478EAAFC5F8}">
      <dgm:prSet/>
      <dgm:spPr/>
      <dgm:t>
        <a:bodyPr/>
        <a:lstStyle/>
        <a:p>
          <a:endParaRPr lang="en-US" sz="1600"/>
        </a:p>
      </dgm:t>
    </dgm:pt>
    <dgm:pt modelId="{B02628AA-6B6D-4A48-8CBC-5FEF43BF5A30}" type="sibTrans" cxnId="{B3EA27AD-0C2F-4043-97D6-2478EAAFC5F8}">
      <dgm:prSet/>
      <dgm:spPr/>
      <dgm:t>
        <a:bodyPr/>
        <a:lstStyle/>
        <a:p>
          <a:endParaRPr lang="en-US" sz="1600"/>
        </a:p>
      </dgm:t>
    </dgm:pt>
    <dgm:pt modelId="{AEF8C213-2A53-4BF8-A727-79CBCF0BD546}">
      <dgm:prSet custT="1"/>
      <dgm:spPr/>
      <dgm:t>
        <a:bodyPr/>
        <a:lstStyle/>
        <a:p>
          <a:r>
            <a:rPr lang="en-US" sz="1600" dirty="0">
              <a:solidFill>
                <a:schemeClr val="tx1"/>
              </a:solidFill>
            </a:rPr>
            <a:t>Committed to affordable, high-quality, data-driven care</a:t>
          </a:r>
        </a:p>
      </dgm:t>
    </dgm:pt>
    <dgm:pt modelId="{B825A7A5-1ED3-430B-939D-819BB0C7DF3B}" type="parTrans" cxnId="{836A75D6-19C7-41C8-9D5A-3BC2F24D83BE}">
      <dgm:prSet/>
      <dgm:spPr/>
      <dgm:t>
        <a:bodyPr/>
        <a:lstStyle/>
        <a:p>
          <a:endParaRPr lang="en-US" sz="1600"/>
        </a:p>
      </dgm:t>
    </dgm:pt>
    <dgm:pt modelId="{614ED4C1-4939-4751-90CA-8768D757FA76}" type="sibTrans" cxnId="{836A75D6-19C7-41C8-9D5A-3BC2F24D83BE}">
      <dgm:prSet/>
      <dgm:spPr/>
      <dgm:t>
        <a:bodyPr/>
        <a:lstStyle/>
        <a:p>
          <a:endParaRPr lang="en-US" sz="1600"/>
        </a:p>
      </dgm:t>
    </dgm:pt>
    <dgm:pt modelId="{DF71627B-2E5E-4F73-A899-76EA51D53EB8}" type="pres">
      <dgm:prSet presAssocID="{811C53C6-8BFE-42C5-A567-B15DCC943023}" presName="Name0" presStyleCnt="0">
        <dgm:presLayoutVars>
          <dgm:chMax val="7"/>
          <dgm:chPref val="7"/>
          <dgm:dir/>
        </dgm:presLayoutVars>
      </dgm:prSet>
      <dgm:spPr/>
    </dgm:pt>
    <dgm:pt modelId="{8F409EAE-D9BB-4E36-BFE2-443790A4FDCB}" type="pres">
      <dgm:prSet presAssocID="{811C53C6-8BFE-42C5-A567-B15DCC943023}" presName="Name1" presStyleCnt="0"/>
      <dgm:spPr/>
    </dgm:pt>
    <dgm:pt modelId="{635A99BB-6339-438A-8866-2269948B8DFB}" type="pres">
      <dgm:prSet presAssocID="{811C53C6-8BFE-42C5-A567-B15DCC943023}" presName="cycle" presStyleCnt="0"/>
      <dgm:spPr/>
    </dgm:pt>
    <dgm:pt modelId="{B0C3767C-C8C2-4800-B0E0-B7A67E6117A4}" type="pres">
      <dgm:prSet presAssocID="{811C53C6-8BFE-42C5-A567-B15DCC943023}" presName="srcNode" presStyleLbl="node1" presStyleIdx="0" presStyleCnt="6"/>
      <dgm:spPr/>
    </dgm:pt>
    <dgm:pt modelId="{0F421C37-D35D-404B-9C9D-E8108F1E0F4E}" type="pres">
      <dgm:prSet presAssocID="{811C53C6-8BFE-42C5-A567-B15DCC943023}" presName="conn" presStyleLbl="parChTrans1D2" presStyleIdx="0" presStyleCnt="1"/>
      <dgm:spPr/>
    </dgm:pt>
    <dgm:pt modelId="{5E49947C-B920-4E23-81CD-3796986A834D}" type="pres">
      <dgm:prSet presAssocID="{811C53C6-8BFE-42C5-A567-B15DCC943023}" presName="extraNode" presStyleLbl="node1" presStyleIdx="0" presStyleCnt="6"/>
      <dgm:spPr/>
    </dgm:pt>
    <dgm:pt modelId="{1BC60ECF-A480-4E1D-B38F-E3CC3A922D7E}" type="pres">
      <dgm:prSet presAssocID="{811C53C6-8BFE-42C5-A567-B15DCC943023}" presName="dstNode" presStyleLbl="node1" presStyleIdx="0" presStyleCnt="6"/>
      <dgm:spPr/>
    </dgm:pt>
    <dgm:pt modelId="{C3C07A0A-D984-40D9-A3F2-52D224A3FF81}" type="pres">
      <dgm:prSet presAssocID="{21053F30-B7D6-4076-A231-7DC0861DB844}" presName="text_1" presStyleLbl="node1" presStyleIdx="0" presStyleCnt="6">
        <dgm:presLayoutVars>
          <dgm:bulletEnabled val="1"/>
        </dgm:presLayoutVars>
      </dgm:prSet>
      <dgm:spPr/>
    </dgm:pt>
    <dgm:pt modelId="{36F51C5B-AF45-4F1C-B013-671EBDB2F8F5}" type="pres">
      <dgm:prSet presAssocID="{21053F30-B7D6-4076-A231-7DC0861DB844}" presName="accent_1" presStyleCnt="0"/>
      <dgm:spPr/>
    </dgm:pt>
    <dgm:pt modelId="{0C29D382-ED92-4A5E-AFE2-832F909559DE}" type="pres">
      <dgm:prSet presAssocID="{21053F30-B7D6-4076-A231-7DC0861DB844}" presName="accentRepeatNode" presStyleLbl="solidFgAcc1" presStyleIdx="0" presStyleCnt="6"/>
      <dgm:spPr/>
    </dgm:pt>
    <dgm:pt modelId="{19FEDC71-0437-43B9-9FFD-AD90BF44B0F0}" type="pres">
      <dgm:prSet presAssocID="{57CC0F90-9286-413D-B74E-AB9F296E3104}" presName="text_2" presStyleLbl="node1" presStyleIdx="1" presStyleCnt="6">
        <dgm:presLayoutVars>
          <dgm:bulletEnabled val="1"/>
        </dgm:presLayoutVars>
      </dgm:prSet>
      <dgm:spPr/>
    </dgm:pt>
    <dgm:pt modelId="{C2A0A68D-85C7-48BD-99AB-DF354F5D7277}" type="pres">
      <dgm:prSet presAssocID="{57CC0F90-9286-413D-B74E-AB9F296E3104}" presName="accent_2" presStyleCnt="0"/>
      <dgm:spPr/>
    </dgm:pt>
    <dgm:pt modelId="{67E411AE-3A23-4BAA-821C-E062DBE2F0DB}" type="pres">
      <dgm:prSet presAssocID="{57CC0F90-9286-413D-B74E-AB9F296E3104}" presName="accentRepeatNode" presStyleLbl="solidFgAcc1" presStyleIdx="1" presStyleCnt="6"/>
      <dgm:spPr/>
    </dgm:pt>
    <dgm:pt modelId="{02C0226F-150B-4845-A59C-34731A94F31C}" type="pres">
      <dgm:prSet presAssocID="{8CF80BD7-C556-4472-94F9-0879EA25BBE1}" presName="text_3" presStyleLbl="node1" presStyleIdx="2" presStyleCnt="6">
        <dgm:presLayoutVars>
          <dgm:bulletEnabled val="1"/>
        </dgm:presLayoutVars>
      </dgm:prSet>
      <dgm:spPr/>
    </dgm:pt>
    <dgm:pt modelId="{80AEFAB1-A48E-4FD2-96E2-4EFA554D28F5}" type="pres">
      <dgm:prSet presAssocID="{8CF80BD7-C556-4472-94F9-0879EA25BBE1}" presName="accent_3" presStyleCnt="0"/>
      <dgm:spPr/>
    </dgm:pt>
    <dgm:pt modelId="{DCFEA335-36CA-45BC-AB98-C57A7F6CF024}" type="pres">
      <dgm:prSet presAssocID="{8CF80BD7-C556-4472-94F9-0879EA25BBE1}" presName="accentRepeatNode" presStyleLbl="solidFgAcc1" presStyleIdx="2" presStyleCnt="6"/>
      <dgm:spPr/>
    </dgm:pt>
    <dgm:pt modelId="{67ECD749-0FC1-499E-8212-21C89FD519A4}" type="pres">
      <dgm:prSet presAssocID="{9A6865C5-6611-4B47-A056-525CC03EBE09}" presName="text_4" presStyleLbl="node1" presStyleIdx="3" presStyleCnt="6">
        <dgm:presLayoutVars>
          <dgm:bulletEnabled val="1"/>
        </dgm:presLayoutVars>
      </dgm:prSet>
      <dgm:spPr/>
    </dgm:pt>
    <dgm:pt modelId="{87DDF020-5F90-428B-BB56-65FBD9D60930}" type="pres">
      <dgm:prSet presAssocID="{9A6865C5-6611-4B47-A056-525CC03EBE09}" presName="accent_4" presStyleCnt="0"/>
      <dgm:spPr/>
    </dgm:pt>
    <dgm:pt modelId="{766B57E4-A72B-4F51-956B-5D68849EB809}" type="pres">
      <dgm:prSet presAssocID="{9A6865C5-6611-4B47-A056-525CC03EBE09}" presName="accentRepeatNode" presStyleLbl="solidFgAcc1" presStyleIdx="3" presStyleCnt="6"/>
      <dgm:spPr/>
    </dgm:pt>
    <dgm:pt modelId="{DF44754F-6313-4ED0-9CFF-8B1A822E7EB4}" type="pres">
      <dgm:prSet presAssocID="{AABF8D8E-FBDE-49A1-9F92-873DC12D192B}" presName="text_5" presStyleLbl="node1" presStyleIdx="4" presStyleCnt="6">
        <dgm:presLayoutVars>
          <dgm:bulletEnabled val="1"/>
        </dgm:presLayoutVars>
      </dgm:prSet>
      <dgm:spPr/>
    </dgm:pt>
    <dgm:pt modelId="{6C0305E3-AE1A-4334-8A01-5F0EBC9A09CE}" type="pres">
      <dgm:prSet presAssocID="{AABF8D8E-FBDE-49A1-9F92-873DC12D192B}" presName="accent_5" presStyleCnt="0"/>
      <dgm:spPr/>
    </dgm:pt>
    <dgm:pt modelId="{A6E616E7-3AE6-462A-89B8-79EFD95ADAA4}" type="pres">
      <dgm:prSet presAssocID="{AABF8D8E-FBDE-49A1-9F92-873DC12D192B}" presName="accentRepeatNode" presStyleLbl="solidFgAcc1" presStyleIdx="4" presStyleCnt="6"/>
      <dgm:spPr/>
    </dgm:pt>
    <dgm:pt modelId="{BA172829-60E8-4154-A393-083AA994B0F1}" type="pres">
      <dgm:prSet presAssocID="{AEF8C213-2A53-4BF8-A727-79CBCF0BD546}" presName="text_6" presStyleLbl="node1" presStyleIdx="5" presStyleCnt="6">
        <dgm:presLayoutVars>
          <dgm:bulletEnabled val="1"/>
        </dgm:presLayoutVars>
      </dgm:prSet>
      <dgm:spPr/>
    </dgm:pt>
    <dgm:pt modelId="{62DAD446-DA86-4882-9D40-915533885D85}" type="pres">
      <dgm:prSet presAssocID="{AEF8C213-2A53-4BF8-A727-79CBCF0BD546}" presName="accent_6" presStyleCnt="0"/>
      <dgm:spPr/>
    </dgm:pt>
    <dgm:pt modelId="{878EFF97-09D5-43BA-8D49-DA0C391E9F63}" type="pres">
      <dgm:prSet presAssocID="{AEF8C213-2A53-4BF8-A727-79CBCF0BD546}" presName="accentRepeatNode" presStyleLbl="solidFgAcc1" presStyleIdx="5" presStyleCnt="6"/>
      <dgm:spPr/>
    </dgm:pt>
  </dgm:ptLst>
  <dgm:cxnLst>
    <dgm:cxn modelId="{90FF0104-CFA8-49F7-9089-9D91AEFF7730}" type="presOf" srcId="{21053F30-B7D6-4076-A231-7DC0861DB844}" destId="{C3C07A0A-D984-40D9-A3F2-52D224A3FF81}" srcOrd="0" destOrd="0" presId="urn:microsoft.com/office/officeart/2008/layout/VerticalCurvedList"/>
    <dgm:cxn modelId="{F56CBC04-6A20-4B60-8233-19425D282984}" type="presOf" srcId="{8CF80BD7-C556-4472-94F9-0879EA25BBE1}" destId="{02C0226F-150B-4845-A59C-34731A94F31C}" srcOrd="0" destOrd="0" presId="urn:microsoft.com/office/officeart/2008/layout/VerticalCurvedList"/>
    <dgm:cxn modelId="{098AA60B-D846-44FB-9364-102EE729DE4A}" srcId="{811C53C6-8BFE-42C5-A567-B15DCC943023}" destId="{9A6865C5-6611-4B47-A056-525CC03EBE09}" srcOrd="3" destOrd="0" parTransId="{39926E61-6CE6-4CFE-AFE1-C6B2810483AF}" sibTransId="{23A77CE3-B6CD-4A2B-9C27-3C83C62BDEAF}"/>
    <dgm:cxn modelId="{83951728-D6D6-428C-BB6C-398E2CE20C50}" type="presOf" srcId="{9A6865C5-6611-4B47-A056-525CC03EBE09}" destId="{67ECD749-0FC1-499E-8212-21C89FD519A4}" srcOrd="0" destOrd="0" presId="urn:microsoft.com/office/officeart/2008/layout/VerticalCurvedList"/>
    <dgm:cxn modelId="{A02F3F30-768D-4A5F-88C8-26888B8240C9}" type="presOf" srcId="{AABF8D8E-FBDE-49A1-9F92-873DC12D192B}" destId="{DF44754F-6313-4ED0-9CFF-8B1A822E7EB4}" srcOrd="0" destOrd="0" presId="urn:microsoft.com/office/officeart/2008/layout/VerticalCurvedList"/>
    <dgm:cxn modelId="{3596C38B-A088-43D7-B2B9-3DE8B75186E6}" srcId="{811C53C6-8BFE-42C5-A567-B15DCC943023}" destId="{8CF80BD7-C556-4472-94F9-0879EA25BBE1}" srcOrd="2" destOrd="0" parTransId="{D850802A-8D7A-48F7-9235-95723C144A8C}" sibTransId="{672B0826-BA74-42D5-A5F6-40311AF13DFD}"/>
    <dgm:cxn modelId="{CB90BD9C-443A-4024-8B58-75DD1B04F38B}" type="presOf" srcId="{57CC0F90-9286-413D-B74E-AB9F296E3104}" destId="{19FEDC71-0437-43B9-9FFD-AD90BF44B0F0}" srcOrd="0" destOrd="0" presId="urn:microsoft.com/office/officeart/2008/layout/VerticalCurvedList"/>
    <dgm:cxn modelId="{572325A2-2AAB-48CE-AEC0-92A3B111E601}" srcId="{811C53C6-8BFE-42C5-A567-B15DCC943023}" destId="{21053F30-B7D6-4076-A231-7DC0861DB844}" srcOrd="0" destOrd="0" parTransId="{DA780644-FF05-4080-8F4D-5BB20DCBAD9E}" sibTransId="{169B0475-B31D-4734-ACB1-9905DC81A757}"/>
    <dgm:cxn modelId="{2BAC61A3-4B8B-4E7B-BDD4-5CD50DE63E36}" type="presOf" srcId="{AEF8C213-2A53-4BF8-A727-79CBCF0BD546}" destId="{BA172829-60E8-4154-A393-083AA994B0F1}" srcOrd="0" destOrd="0" presId="urn:microsoft.com/office/officeart/2008/layout/VerticalCurvedList"/>
    <dgm:cxn modelId="{B66E48AC-49BB-4638-AB3D-603EE949E8CF}" srcId="{811C53C6-8BFE-42C5-A567-B15DCC943023}" destId="{57CC0F90-9286-413D-B74E-AB9F296E3104}" srcOrd="1" destOrd="0" parTransId="{A266799C-36E6-48FA-AB35-62619A3981ED}" sibTransId="{1FEE3C05-8FA7-4611-87FF-FAD164C9122F}"/>
    <dgm:cxn modelId="{B3EA27AD-0C2F-4043-97D6-2478EAAFC5F8}" srcId="{811C53C6-8BFE-42C5-A567-B15DCC943023}" destId="{AABF8D8E-FBDE-49A1-9F92-873DC12D192B}" srcOrd="4" destOrd="0" parTransId="{8C8AA629-D199-4DD0-80A7-12A0712FA388}" sibTransId="{B02628AA-6B6D-4A48-8CBC-5FEF43BF5A30}"/>
    <dgm:cxn modelId="{9CD158C4-7697-49F5-AA44-4B5572BF3896}" type="presOf" srcId="{811C53C6-8BFE-42C5-A567-B15DCC943023}" destId="{DF71627B-2E5E-4F73-A899-76EA51D53EB8}" srcOrd="0" destOrd="0" presId="urn:microsoft.com/office/officeart/2008/layout/VerticalCurvedList"/>
    <dgm:cxn modelId="{836A75D6-19C7-41C8-9D5A-3BC2F24D83BE}" srcId="{811C53C6-8BFE-42C5-A567-B15DCC943023}" destId="{AEF8C213-2A53-4BF8-A727-79CBCF0BD546}" srcOrd="5" destOrd="0" parTransId="{B825A7A5-1ED3-430B-939D-819BB0C7DF3B}" sibTransId="{614ED4C1-4939-4751-90CA-8768D757FA76}"/>
    <dgm:cxn modelId="{C93233F8-BE01-41F5-9C85-6A9683512905}" type="presOf" srcId="{169B0475-B31D-4734-ACB1-9905DC81A757}" destId="{0F421C37-D35D-404B-9C9D-E8108F1E0F4E}" srcOrd="0" destOrd="0" presId="urn:microsoft.com/office/officeart/2008/layout/VerticalCurvedList"/>
    <dgm:cxn modelId="{4809D16D-62E3-40B8-95EB-87DF042BE200}" type="presParOf" srcId="{DF71627B-2E5E-4F73-A899-76EA51D53EB8}" destId="{8F409EAE-D9BB-4E36-BFE2-443790A4FDCB}" srcOrd="0" destOrd="0" presId="urn:microsoft.com/office/officeart/2008/layout/VerticalCurvedList"/>
    <dgm:cxn modelId="{501304C1-3CC7-48CB-92AD-A16E4FE7A27A}" type="presParOf" srcId="{8F409EAE-D9BB-4E36-BFE2-443790A4FDCB}" destId="{635A99BB-6339-438A-8866-2269948B8DFB}" srcOrd="0" destOrd="0" presId="urn:microsoft.com/office/officeart/2008/layout/VerticalCurvedList"/>
    <dgm:cxn modelId="{922026AB-7D2E-4B10-9D54-C166CEE4F89B}" type="presParOf" srcId="{635A99BB-6339-438A-8866-2269948B8DFB}" destId="{B0C3767C-C8C2-4800-B0E0-B7A67E6117A4}" srcOrd="0" destOrd="0" presId="urn:microsoft.com/office/officeart/2008/layout/VerticalCurvedList"/>
    <dgm:cxn modelId="{CFEA5052-77DD-4239-BF7B-ACF873D4E9EF}" type="presParOf" srcId="{635A99BB-6339-438A-8866-2269948B8DFB}" destId="{0F421C37-D35D-404B-9C9D-E8108F1E0F4E}" srcOrd="1" destOrd="0" presId="urn:microsoft.com/office/officeart/2008/layout/VerticalCurvedList"/>
    <dgm:cxn modelId="{1F24652D-AB10-4197-8F0D-A1CE1DF1A8CF}" type="presParOf" srcId="{635A99BB-6339-438A-8866-2269948B8DFB}" destId="{5E49947C-B920-4E23-81CD-3796986A834D}" srcOrd="2" destOrd="0" presId="urn:microsoft.com/office/officeart/2008/layout/VerticalCurvedList"/>
    <dgm:cxn modelId="{933B9038-A595-456F-84EC-403B1AA3FC0B}" type="presParOf" srcId="{635A99BB-6339-438A-8866-2269948B8DFB}" destId="{1BC60ECF-A480-4E1D-B38F-E3CC3A922D7E}" srcOrd="3" destOrd="0" presId="urn:microsoft.com/office/officeart/2008/layout/VerticalCurvedList"/>
    <dgm:cxn modelId="{4E06C89E-0B7F-4A0B-B1CA-B6AFF1A03646}" type="presParOf" srcId="{8F409EAE-D9BB-4E36-BFE2-443790A4FDCB}" destId="{C3C07A0A-D984-40D9-A3F2-52D224A3FF81}" srcOrd="1" destOrd="0" presId="urn:microsoft.com/office/officeart/2008/layout/VerticalCurvedList"/>
    <dgm:cxn modelId="{ECDF291F-5E6E-4EFF-A101-738F002E4999}" type="presParOf" srcId="{8F409EAE-D9BB-4E36-BFE2-443790A4FDCB}" destId="{36F51C5B-AF45-4F1C-B013-671EBDB2F8F5}" srcOrd="2" destOrd="0" presId="urn:microsoft.com/office/officeart/2008/layout/VerticalCurvedList"/>
    <dgm:cxn modelId="{A640F38E-A9FA-4137-AAE2-2842CD35230A}" type="presParOf" srcId="{36F51C5B-AF45-4F1C-B013-671EBDB2F8F5}" destId="{0C29D382-ED92-4A5E-AFE2-832F909559DE}" srcOrd="0" destOrd="0" presId="urn:microsoft.com/office/officeart/2008/layout/VerticalCurvedList"/>
    <dgm:cxn modelId="{DC239D93-1DB2-4F01-A8C9-0C957CD487CE}" type="presParOf" srcId="{8F409EAE-D9BB-4E36-BFE2-443790A4FDCB}" destId="{19FEDC71-0437-43B9-9FFD-AD90BF44B0F0}" srcOrd="3" destOrd="0" presId="urn:microsoft.com/office/officeart/2008/layout/VerticalCurvedList"/>
    <dgm:cxn modelId="{736C8751-9917-4456-AECD-A5FC533877D6}" type="presParOf" srcId="{8F409EAE-D9BB-4E36-BFE2-443790A4FDCB}" destId="{C2A0A68D-85C7-48BD-99AB-DF354F5D7277}" srcOrd="4" destOrd="0" presId="urn:microsoft.com/office/officeart/2008/layout/VerticalCurvedList"/>
    <dgm:cxn modelId="{4229B452-2CCB-41AD-B9B2-BA3D1AD96122}" type="presParOf" srcId="{C2A0A68D-85C7-48BD-99AB-DF354F5D7277}" destId="{67E411AE-3A23-4BAA-821C-E062DBE2F0DB}" srcOrd="0" destOrd="0" presId="urn:microsoft.com/office/officeart/2008/layout/VerticalCurvedList"/>
    <dgm:cxn modelId="{31EB14A9-22F8-4E4D-B1C2-7DF3F1E459C0}" type="presParOf" srcId="{8F409EAE-D9BB-4E36-BFE2-443790A4FDCB}" destId="{02C0226F-150B-4845-A59C-34731A94F31C}" srcOrd="5" destOrd="0" presId="urn:microsoft.com/office/officeart/2008/layout/VerticalCurvedList"/>
    <dgm:cxn modelId="{136DF1C8-B5E6-43C5-A446-C2D4684C9265}" type="presParOf" srcId="{8F409EAE-D9BB-4E36-BFE2-443790A4FDCB}" destId="{80AEFAB1-A48E-4FD2-96E2-4EFA554D28F5}" srcOrd="6" destOrd="0" presId="urn:microsoft.com/office/officeart/2008/layout/VerticalCurvedList"/>
    <dgm:cxn modelId="{54E41D76-FC03-4569-8FAF-E66815ECC0D6}" type="presParOf" srcId="{80AEFAB1-A48E-4FD2-96E2-4EFA554D28F5}" destId="{DCFEA335-36CA-45BC-AB98-C57A7F6CF024}" srcOrd="0" destOrd="0" presId="urn:microsoft.com/office/officeart/2008/layout/VerticalCurvedList"/>
    <dgm:cxn modelId="{4E3A311F-132D-4DE6-8A2C-552A400DAC92}" type="presParOf" srcId="{8F409EAE-D9BB-4E36-BFE2-443790A4FDCB}" destId="{67ECD749-0FC1-499E-8212-21C89FD519A4}" srcOrd="7" destOrd="0" presId="urn:microsoft.com/office/officeart/2008/layout/VerticalCurvedList"/>
    <dgm:cxn modelId="{1CF86B86-AA9C-4547-A879-D60BD4B13D4C}" type="presParOf" srcId="{8F409EAE-D9BB-4E36-BFE2-443790A4FDCB}" destId="{87DDF020-5F90-428B-BB56-65FBD9D60930}" srcOrd="8" destOrd="0" presId="urn:microsoft.com/office/officeart/2008/layout/VerticalCurvedList"/>
    <dgm:cxn modelId="{9660AE0B-323F-45C4-9E47-993AFB671202}" type="presParOf" srcId="{87DDF020-5F90-428B-BB56-65FBD9D60930}" destId="{766B57E4-A72B-4F51-956B-5D68849EB809}" srcOrd="0" destOrd="0" presId="urn:microsoft.com/office/officeart/2008/layout/VerticalCurvedList"/>
    <dgm:cxn modelId="{75C15C64-15E9-4652-93CA-59F1FA85DEB7}" type="presParOf" srcId="{8F409EAE-D9BB-4E36-BFE2-443790A4FDCB}" destId="{DF44754F-6313-4ED0-9CFF-8B1A822E7EB4}" srcOrd="9" destOrd="0" presId="urn:microsoft.com/office/officeart/2008/layout/VerticalCurvedList"/>
    <dgm:cxn modelId="{D60899DF-9D14-4726-A291-E4661550D24E}" type="presParOf" srcId="{8F409EAE-D9BB-4E36-BFE2-443790A4FDCB}" destId="{6C0305E3-AE1A-4334-8A01-5F0EBC9A09CE}" srcOrd="10" destOrd="0" presId="urn:microsoft.com/office/officeart/2008/layout/VerticalCurvedList"/>
    <dgm:cxn modelId="{BFA3C851-8E0F-4C73-8FB8-FC85D96FFCD1}" type="presParOf" srcId="{6C0305E3-AE1A-4334-8A01-5F0EBC9A09CE}" destId="{A6E616E7-3AE6-462A-89B8-79EFD95ADAA4}" srcOrd="0" destOrd="0" presId="urn:microsoft.com/office/officeart/2008/layout/VerticalCurvedList"/>
    <dgm:cxn modelId="{3AA323C4-ACC8-452E-BEA2-EC57E6DF8B2A}" type="presParOf" srcId="{8F409EAE-D9BB-4E36-BFE2-443790A4FDCB}" destId="{BA172829-60E8-4154-A393-083AA994B0F1}" srcOrd="11" destOrd="0" presId="urn:microsoft.com/office/officeart/2008/layout/VerticalCurvedList"/>
    <dgm:cxn modelId="{14605B0E-2CD0-4EAF-98A5-2662708F1FD2}" type="presParOf" srcId="{8F409EAE-D9BB-4E36-BFE2-443790A4FDCB}" destId="{62DAD446-DA86-4882-9D40-915533885D85}" srcOrd="12" destOrd="0" presId="urn:microsoft.com/office/officeart/2008/layout/VerticalCurvedList"/>
    <dgm:cxn modelId="{D00C8A55-7140-4267-BBFB-EA398AE0175D}" type="presParOf" srcId="{62DAD446-DA86-4882-9D40-915533885D85}" destId="{878EFF97-09D5-43BA-8D49-DA0C391E9F6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421C37-D35D-404B-9C9D-E8108F1E0F4E}">
      <dsp:nvSpPr>
        <dsp:cNvPr id="0" name=""/>
        <dsp:cNvSpPr/>
      </dsp:nvSpPr>
      <dsp:spPr>
        <a:xfrm>
          <a:off x="-4379715" y="-671780"/>
          <a:ext cx="5217863" cy="5217863"/>
        </a:xfrm>
        <a:prstGeom prst="blockArc">
          <a:avLst>
            <a:gd name="adj1" fmla="val 18900000"/>
            <a:gd name="adj2" fmla="val 2700000"/>
            <a:gd name="adj3" fmla="val 414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C07A0A-D984-40D9-A3F2-52D224A3FF81}">
      <dsp:nvSpPr>
        <dsp:cNvPr id="0" name=""/>
        <dsp:cNvSpPr/>
      </dsp:nvSpPr>
      <dsp:spPr>
        <a:xfrm>
          <a:off x="313156" y="204020"/>
          <a:ext cx="10055656" cy="407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760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Mission Hospital is a super-</a:t>
          </a:r>
          <a:r>
            <a:rPr lang="en-US" sz="1600" kern="1200" dirty="0" err="1">
              <a:solidFill>
                <a:schemeClr val="tx1"/>
              </a:solidFill>
            </a:rPr>
            <a:t>speciality</a:t>
          </a:r>
          <a:r>
            <a:rPr lang="en-US" sz="1600" kern="1200" dirty="0">
              <a:solidFill>
                <a:schemeClr val="tx1"/>
              </a:solidFill>
            </a:rPr>
            <a:t> corporate hospital in Durgapur.</a:t>
          </a:r>
        </a:p>
      </dsp:txBody>
      <dsp:txXfrm>
        <a:off x="313156" y="204020"/>
        <a:ext cx="10055656" cy="407886"/>
      </dsp:txXfrm>
    </dsp:sp>
    <dsp:sp modelId="{0C29D382-ED92-4A5E-AFE2-832F909559DE}">
      <dsp:nvSpPr>
        <dsp:cNvPr id="0" name=""/>
        <dsp:cNvSpPr/>
      </dsp:nvSpPr>
      <dsp:spPr>
        <a:xfrm>
          <a:off x="58227" y="153034"/>
          <a:ext cx="509858" cy="5098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FEDC71-0437-43B9-9FFD-AD90BF44B0F0}">
      <dsp:nvSpPr>
        <dsp:cNvPr id="0" name=""/>
        <dsp:cNvSpPr/>
      </dsp:nvSpPr>
      <dsp:spPr>
        <a:xfrm>
          <a:off x="648670" y="815773"/>
          <a:ext cx="9720141" cy="407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760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Handles high patient volumes, especially cardiac and critical-care</a:t>
          </a:r>
        </a:p>
      </dsp:txBody>
      <dsp:txXfrm>
        <a:off x="648670" y="815773"/>
        <a:ext cx="9720141" cy="407886"/>
      </dsp:txXfrm>
    </dsp:sp>
    <dsp:sp modelId="{67E411AE-3A23-4BAA-821C-E062DBE2F0DB}">
      <dsp:nvSpPr>
        <dsp:cNvPr id="0" name=""/>
        <dsp:cNvSpPr/>
      </dsp:nvSpPr>
      <dsp:spPr>
        <a:xfrm>
          <a:off x="393741" y="764787"/>
          <a:ext cx="509858" cy="5098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C0226F-150B-4845-A59C-34731A94F31C}">
      <dsp:nvSpPr>
        <dsp:cNvPr id="0" name=""/>
        <dsp:cNvSpPr/>
      </dsp:nvSpPr>
      <dsp:spPr>
        <a:xfrm>
          <a:off x="802093" y="1427525"/>
          <a:ext cx="9566719" cy="407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760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Serves international patients from Bhutan, Sri Lanka, and beyond</a:t>
          </a:r>
        </a:p>
      </dsp:txBody>
      <dsp:txXfrm>
        <a:off x="802093" y="1427525"/>
        <a:ext cx="9566719" cy="407886"/>
      </dsp:txXfrm>
    </dsp:sp>
    <dsp:sp modelId="{DCFEA335-36CA-45BC-AB98-C57A7F6CF024}">
      <dsp:nvSpPr>
        <dsp:cNvPr id="0" name=""/>
        <dsp:cNvSpPr/>
      </dsp:nvSpPr>
      <dsp:spPr>
        <a:xfrm>
          <a:off x="547164" y="1376539"/>
          <a:ext cx="509858" cy="5098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ECD749-0FC1-499E-8212-21C89FD519A4}">
      <dsp:nvSpPr>
        <dsp:cNvPr id="0" name=""/>
        <dsp:cNvSpPr/>
      </dsp:nvSpPr>
      <dsp:spPr>
        <a:xfrm>
          <a:off x="802093" y="2038890"/>
          <a:ext cx="9566719" cy="407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760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State-of-the-art infrastructure and NABH accreditation</a:t>
          </a:r>
        </a:p>
      </dsp:txBody>
      <dsp:txXfrm>
        <a:off x="802093" y="2038890"/>
        <a:ext cx="9566719" cy="407886"/>
      </dsp:txXfrm>
    </dsp:sp>
    <dsp:sp modelId="{766B57E4-A72B-4F51-956B-5D68849EB809}">
      <dsp:nvSpPr>
        <dsp:cNvPr id="0" name=""/>
        <dsp:cNvSpPr/>
      </dsp:nvSpPr>
      <dsp:spPr>
        <a:xfrm>
          <a:off x="547164" y="1987904"/>
          <a:ext cx="509858" cy="5098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44754F-6313-4ED0-9CFF-8B1A822E7EB4}">
      <dsp:nvSpPr>
        <dsp:cNvPr id="0" name=""/>
        <dsp:cNvSpPr/>
      </dsp:nvSpPr>
      <dsp:spPr>
        <a:xfrm>
          <a:off x="648670" y="2650643"/>
          <a:ext cx="9720141" cy="407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760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Strong tie-ups with government schemes and public insurance programs.</a:t>
          </a:r>
        </a:p>
      </dsp:txBody>
      <dsp:txXfrm>
        <a:off x="648670" y="2650643"/>
        <a:ext cx="9720141" cy="407886"/>
      </dsp:txXfrm>
    </dsp:sp>
    <dsp:sp modelId="{A6E616E7-3AE6-462A-89B8-79EFD95ADAA4}">
      <dsp:nvSpPr>
        <dsp:cNvPr id="0" name=""/>
        <dsp:cNvSpPr/>
      </dsp:nvSpPr>
      <dsp:spPr>
        <a:xfrm>
          <a:off x="393741" y="2599657"/>
          <a:ext cx="509858" cy="5098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172829-60E8-4154-A393-083AA994B0F1}">
      <dsp:nvSpPr>
        <dsp:cNvPr id="0" name=""/>
        <dsp:cNvSpPr/>
      </dsp:nvSpPr>
      <dsp:spPr>
        <a:xfrm>
          <a:off x="313156" y="3262395"/>
          <a:ext cx="10055656" cy="407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760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Committed to affordable, high-quality, data-driven care</a:t>
          </a:r>
        </a:p>
      </dsp:txBody>
      <dsp:txXfrm>
        <a:off x="313156" y="3262395"/>
        <a:ext cx="10055656" cy="407886"/>
      </dsp:txXfrm>
    </dsp:sp>
    <dsp:sp modelId="{878EFF97-09D5-43BA-8D49-DA0C391E9F63}">
      <dsp:nvSpPr>
        <dsp:cNvPr id="0" name=""/>
        <dsp:cNvSpPr/>
      </dsp:nvSpPr>
      <dsp:spPr>
        <a:xfrm>
          <a:off x="58227" y="3211409"/>
          <a:ext cx="509858" cy="5098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5716D-39C9-48C4-A3EB-B88E4515427D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C6D3C-9EB0-4F2C-9026-3887D1CDB4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763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8D39141-3E8E-4545-90DB-291A0E5F13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 lIns="612000" tIns="0" anchor="ctr"/>
          <a:lstStyle>
            <a:lvl1pPr marL="0" indent="0" algn="l">
              <a:lnSpc>
                <a:spcPct val="100000"/>
              </a:lnSpc>
              <a:buNone/>
              <a:defRPr sz="12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0A062-54B3-47F2-9D6A-5BC957520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000" y="0"/>
            <a:ext cx="9672000" cy="6857999"/>
          </a:xfrm>
          <a:solidFill>
            <a:schemeClr val="tx2">
              <a:alpha val="70000"/>
            </a:schemeClr>
          </a:solidFill>
        </p:spPr>
        <p:txBody>
          <a:bodyPr lIns="1116000" rIns="180000" anchor="ctr"/>
          <a:lstStyle>
            <a:lvl1pPr algn="l">
              <a:defRPr sz="5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97F3D-57FA-4E82-9EEC-E93088055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00" y="4276447"/>
            <a:ext cx="5161550" cy="620016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144000" anchor="ctr"/>
          <a:lstStyle>
            <a:lvl1pPr marL="0" indent="0" algn="l">
              <a:buNone/>
              <a:defRPr sz="2400" b="1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31775C8-C7F0-4EC5-A9C0-53AE3A0C5F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00000" y="6262080"/>
            <a:ext cx="7560000" cy="36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8B0AE2-DA19-49E2-AC81-5272385D30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75689F-8B6B-4484-8064-90B4D8FB7C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7343" y="2731933"/>
            <a:ext cx="6903253" cy="3350673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576000" tIns="1872000" rIns="576000"/>
          <a:lstStyle>
            <a:lvl1pPr marL="0" indent="0">
              <a:lnSpc>
                <a:spcPts val="2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Describe Your Big Idea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C57B9832-0120-4094-8C27-082E3533C5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012000" cy="6858000"/>
          </a:xfrm>
          <a:custGeom>
            <a:avLst/>
            <a:gdLst>
              <a:gd name="connsiteX0" fmla="*/ 0 w 12012000"/>
              <a:gd name="connsiteY0" fmla="*/ 0 h 6858000"/>
              <a:gd name="connsiteX1" fmla="*/ 8592000 w 12012000"/>
              <a:gd name="connsiteY1" fmla="*/ 0 h 6858000"/>
              <a:gd name="connsiteX2" fmla="*/ 8592000 w 12012000"/>
              <a:gd name="connsiteY2" fmla="*/ 180000 h 6858000"/>
              <a:gd name="connsiteX3" fmla="*/ 12012000 w 12012000"/>
              <a:gd name="connsiteY3" fmla="*/ 180000 h 6858000"/>
              <a:gd name="connsiteX4" fmla="*/ 12012000 w 12012000"/>
              <a:gd name="connsiteY4" fmla="*/ 6678000 h 6858000"/>
              <a:gd name="connsiteX5" fmla="*/ 8592000 w 12012000"/>
              <a:gd name="connsiteY5" fmla="*/ 6678000 h 6858000"/>
              <a:gd name="connsiteX6" fmla="*/ 8592000 w 12012000"/>
              <a:gd name="connsiteY6" fmla="*/ 6858000 h 6858000"/>
              <a:gd name="connsiteX7" fmla="*/ 0 w 1201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012000" h="6858000">
                <a:moveTo>
                  <a:pt x="0" y="0"/>
                </a:moveTo>
                <a:lnTo>
                  <a:pt x="8592000" y="0"/>
                </a:lnTo>
                <a:lnTo>
                  <a:pt x="8592000" y="180000"/>
                </a:lnTo>
                <a:lnTo>
                  <a:pt x="12012000" y="180000"/>
                </a:lnTo>
                <a:lnTo>
                  <a:pt x="12012000" y="6678000"/>
                </a:lnTo>
                <a:lnTo>
                  <a:pt x="8592000" y="6678000"/>
                </a:lnTo>
                <a:lnTo>
                  <a:pt x="85920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0" tIns="0" rIns="61200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3999" y="6262080"/>
            <a:ext cx="6190934" cy="36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AF90A48-1BFB-4A19-9A1C-2851879F9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9778" y="3096087"/>
            <a:ext cx="5455750" cy="1008000"/>
          </a:xfrm>
        </p:spPr>
        <p:txBody>
          <a:bodyPr/>
          <a:lstStyle>
            <a:lvl1pPr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9E79024-4B2E-43B0-8607-196181AB731F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59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X Number &amp;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67CE6DD-011B-4E2D-9E8A-EFF414E39E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76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5"/>
            <a:ext cx="7560000" cy="36000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E75A4B-2655-4B0E-8D3B-0068F57D3D9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F266E5-40A6-4643-B9AC-B38F272563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CB790CB-E4F5-4B61-A03E-1CA0C32E3F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04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570684C-B743-402E-8778-A65199577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710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CEC7149-9A00-4CA4-B800-1BFD6EBEB8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72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374F0E2-36BA-43B5-8799-77AA3367DF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69707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BA12174-6A24-4E61-8D58-B3B42C31BE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96056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3A67B21-0E8B-4922-94F9-20492309C4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46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801C20C-82D2-465E-8D45-DF1A57E045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08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62BAD45E-2039-4F8D-9CFC-42BFA3756A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31412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64A78879-6338-4F3B-864E-8FF4E08C006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57654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80118439-B306-4F20-9200-1C429EADC7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01000" y="5271502"/>
            <a:ext cx="1990001" cy="620016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0" anchor="ctr"/>
          <a:lstStyle>
            <a:lvl1pPr marL="0" indent="0" algn="ctr">
              <a:buNone/>
              <a:defRPr sz="2400" b="1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Outcome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9B7E7F2-DF6B-4441-B0B1-7E87E29BA3A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985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ED41522A-FBAF-4E5D-B592-F13855964E8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3853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AA51069C-E1DC-44A0-A6A0-2A4AB0DD4D70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684044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42F6437E-5478-451F-9BE3-E8160EA4351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9589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25127DFD-53A7-41A8-B591-AEEC1203802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245749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892583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 40 Vertical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F76D43D-0DDD-4BAD-8213-BDBF75C3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6118" y="4338116"/>
            <a:ext cx="10839764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6D3ACF3-E1F5-4332-9836-C8E6C46591B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43438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DF8FE7-66F4-4586-B49B-61E115ED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5B890-F885-418C-9812-59970CAC6B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21507-88DE-417D-8076-D9152E1E14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C7DDD-6F93-45F8-AFD6-95AA051FE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1CD6042-5DF4-4624-BC32-25F68745304A}"/>
              </a:ext>
            </a:extLst>
          </p:cNvPr>
          <p:cNvSpPr/>
          <p:nvPr userDrawn="1"/>
        </p:nvSpPr>
        <p:spPr>
          <a:xfrm rot="5400000">
            <a:off x="8220300" y="371700"/>
            <a:ext cx="4343400" cy="3600000"/>
          </a:xfrm>
          <a:custGeom>
            <a:avLst/>
            <a:gdLst>
              <a:gd name="connsiteX0" fmla="*/ 0 w 4343400"/>
              <a:gd name="connsiteY0" fmla="*/ 3600000 h 3600000"/>
              <a:gd name="connsiteX1" fmla="*/ 0 w 4343400"/>
              <a:gd name="connsiteY1" fmla="*/ 0 h 3600000"/>
              <a:gd name="connsiteX2" fmla="*/ 180000 w 4343400"/>
              <a:gd name="connsiteY2" fmla="*/ 0 h 3600000"/>
              <a:gd name="connsiteX3" fmla="*/ 4343400 w 4343400"/>
              <a:gd name="connsiteY3" fmla="*/ 0 h 3600000"/>
              <a:gd name="connsiteX4" fmla="*/ 4343400 w 4343400"/>
              <a:gd name="connsiteY4" fmla="*/ 180000 h 3600000"/>
              <a:gd name="connsiteX5" fmla="*/ 180000 w 4343400"/>
              <a:gd name="connsiteY5" fmla="*/ 180000 h 3600000"/>
              <a:gd name="connsiteX6" fmla="*/ 180000 w 4343400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3400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4343400" y="0"/>
                </a:lnTo>
                <a:lnTo>
                  <a:pt x="43434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294759C-286C-4281-B194-581C766EEF28}"/>
              </a:ext>
            </a:extLst>
          </p:cNvPr>
          <p:cNvSpPr/>
          <p:nvPr userDrawn="1"/>
        </p:nvSpPr>
        <p:spPr>
          <a:xfrm rot="5400000">
            <a:off x="9134700" y="3800700"/>
            <a:ext cx="2514600" cy="3600000"/>
          </a:xfrm>
          <a:custGeom>
            <a:avLst/>
            <a:gdLst>
              <a:gd name="connsiteX0" fmla="*/ 0 w 2514600"/>
              <a:gd name="connsiteY0" fmla="*/ 180000 h 3600000"/>
              <a:gd name="connsiteX1" fmla="*/ 0 w 2514600"/>
              <a:gd name="connsiteY1" fmla="*/ 0 h 3600000"/>
              <a:gd name="connsiteX2" fmla="*/ 2334600 w 2514600"/>
              <a:gd name="connsiteY2" fmla="*/ 0 h 3600000"/>
              <a:gd name="connsiteX3" fmla="*/ 2514600 w 2514600"/>
              <a:gd name="connsiteY3" fmla="*/ 0 h 3600000"/>
              <a:gd name="connsiteX4" fmla="*/ 2514600 w 2514600"/>
              <a:gd name="connsiteY4" fmla="*/ 180000 h 3600000"/>
              <a:gd name="connsiteX5" fmla="*/ 2514600 w 2514600"/>
              <a:gd name="connsiteY5" fmla="*/ 3600000 h 3600000"/>
              <a:gd name="connsiteX6" fmla="*/ 2334600 w 2514600"/>
              <a:gd name="connsiteY6" fmla="*/ 3600000 h 3600000"/>
              <a:gd name="connsiteX7" fmla="*/ 2334600 w 2514600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14600" h="3600000">
                <a:moveTo>
                  <a:pt x="0" y="180000"/>
                </a:moveTo>
                <a:lnTo>
                  <a:pt x="0" y="0"/>
                </a:lnTo>
                <a:lnTo>
                  <a:pt x="2334600" y="0"/>
                </a:lnTo>
                <a:lnTo>
                  <a:pt x="2514600" y="0"/>
                </a:lnTo>
                <a:lnTo>
                  <a:pt x="2514600" y="180000"/>
                </a:lnTo>
                <a:lnTo>
                  <a:pt x="2514600" y="3600000"/>
                </a:lnTo>
                <a:lnTo>
                  <a:pt x="2334600" y="3600000"/>
                </a:lnTo>
                <a:lnTo>
                  <a:pt x="2334600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7894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x Content Block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E6622698-E93D-4214-8C21-38DBE58C2E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22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706BC54-FE11-4237-96CC-8DA267DB5D7C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0581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70581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1291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31291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92000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92000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3E6D854C-C76F-49BA-9E74-F438CA8EA9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70581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D447D7D-C1F4-4AD4-AE22-EB8E7F1C41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70581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49DF703-38D0-4214-9432-83570E10EF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1291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F9EB6572-1A9F-4672-8E42-A4E15451CA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31291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0740EB70-455C-47FF-9A9A-0D78D202ED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92000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CD9A5773-4F50-4631-9B7A-0A2D83E5DC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92000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875987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x Content Block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5350A6A-6F84-47F4-AE00-8295D96D08C8}"/>
              </a:ext>
            </a:extLst>
          </p:cNvPr>
          <p:cNvSpPr/>
          <p:nvPr userDrawn="1"/>
        </p:nvSpPr>
        <p:spPr>
          <a:xfrm rot="5400000">
            <a:off x="8677500" y="3343500"/>
            <a:ext cx="3429000" cy="3600000"/>
          </a:xfrm>
          <a:custGeom>
            <a:avLst/>
            <a:gdLst>
              <a:gd name="connsiteX0" fmla="*/ 0 w 3429000"/>
              <a:gd name="connsiteY0" fmla="*/ 180000 h 3600000"/>
              <a:gd name="connsiteX1" fmla="*/ 0 w 3429000"/>
              <a:gd name="connsiteY1" fmla="*/ 0 h 3600000"/>
              <a:gd name="connsiteX2" fmla="*/ 3249000 w 3429000"/>
              <a:gd name="connsiteY2" fmla="*/ 0 h 3600000"/>
              <a:gd name="connsiteX3" fmla="*/ 3429000 w 3429000"/>
              <a:gd name="connsiteY3" fmla="*/ 0 h 3600000"/>
              <a:gd name="connsiteX4" fmla="*/ 3429000 w 3429000"/>
              <a:gd name="connsiteY4" fmla="*/ 180000 h 3600000"/>
              <a:gd name="connsiteX5" fmla="*/ 3429000 w 3429000"/>
              <a:gd name="connsiteY5" fmla="*/ 3600000 h 3600000"/>
              <a:gd name="connsiteX6" fmla="*/ 3249000 w 3429000"/>
              <a:gd name="connsiteY6" fmla="*/ 3600000 h 3600000"/>
              <a:gd name="connsiteX7" fmla="*/ 3249000 w 3429000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000" h="3600000">
                <a:moveTo>
                  <a:pt x="0" y="180000"/>
                </a:moveTo>
                <a:lnTo>
                  <a:pt x="0" y="0"/>
                </a:lnTo>
                <a:lnTo>
                  <a:pt x="3249000" y="0"/>
                </a:lnTo>
                <a:lnTo>
                  <a:pt x="3429000" y="0"/>
                </a:lnTo>
                <a:lnTo>
                  <a:pt x="3429000" y="180000"/>
                </a:lnTo>
                <a:lnTo>
                  <a:pt x="3429000" y="3600000"/>
                </a:lnTo>
                <a:lnTo>
                  <a:pt x="3249000" y="3600000"/>
                </a:lnTo>
                <a:lnTo>
                  <a:pt x="3249000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34294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2863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863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5432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5432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8000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08000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8989EC4C-4E3F-457F-8CF6-8A88DE68A93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908907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67FB2730-3D12-4D72-AE64-AC3955C5CD9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671476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1" name="Picture Placeholder 25">
            <a:extLst>
              <a:ext uri="{FF2B5EF4-FFF2-40B4-BE49-F238E27FC236}">
                <a16:creationId xmlns:a16="http://schemas.microsoft.com/office/drawing/2014/main" id="{4F2BB90C-4866-4DB3-B05C-0BB7DBFF8EA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434044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EA98CFA-B2A7-4BCC-B1DC-01CFAD2DD65E}"/>
              </a:ext>
            </a:extLst>
          </p:cNvPr>
          <p:cNvSpPr/>
          <p:nvPr userDrawn="1"/>
        </p:nvSpPr>
        <p:spPr>
          <a:xfrm rot="5400000">
            <a:off x="8677500" y="-85500"/>
            <a:ext cx="3429000" cy="3600000"/>
          </a:xfrm>
          <a:custGeom>
            <a:avLst/>
            <a:gdLst>
              <a:gd name="connsiteX0" fmla="*/ 0 w 3429000"/>
              <a:gd name="connsiteY0" fmla="*/ 3600000 h 3600000"/>
              <a:gd name="connsiteX1" fmla="*/ 0 w 3429000"/>
              <a:gd name="connsiteY1" fmla="*/ 0 h 3600000"/>
              <a:gd name="connsiteX2" fmla="*/ 180000 w 3429000"/>
              <a:gd name="connsiteY2" fmla="*/ 0 h 3600000"/>
              <a:gd name="connsiteX3" fmla="*/ 3429000 w 3429000"/>
              <a:gd name="connsiteY3" fmla="*/ 0 h 3600000"/>
              <a:gd name="connsiteX4" fmla="*/ 3429000 w 3429000"/>
              <a:gd name="connsiteY4" fmla="*/ 180000 h 3600000"/>
              <a:gd name="connsiteX5" fmla="*/ 180000 w 3429000"/>
              <a:gd name="connsiteY5" fmla="*/ 180000 h 3600000"/>
              <a:gd name="connsiteX6" fmla="*/ 180000 w 3429000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29000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3429000" y="0"/>
                </a:lnTo>
                <a:lnTo>
                  <a:pt x="3429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598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752CBEE-7696-40FC-AB0E-8790B179D18C}"/>
              </a:ext>
            </a:extLst>
          </p:cNvPr>
          <p:cNvSpPr/>
          <p:nvPr userDrawn="1"/>
        </p:nvSpPr>
        <p:spPr>
          <a:xfrm rot="5400000">
            <a:off x="8188485" y="2854485"/>
            <a:ext cx="4407031" cy="3600000"/>
          </a:xfrm>
          <a:custGeom>
            <a:avLst/>
            <a:gdLst>
              <a:gd name="connsiteX0" fmla="*/ 0 w 4407031"/>
              <a:gd name="connsiteY0" fmla="*/ 180000 h 3600000"/>
              <a:gd name="connsiteX1" fmla="*/ 0 w 4407031"/>
              <a:gd name="connsiteY1" fmla="*/ 0 h 3600000"/>
              <a:gd name="connsiteX2" fmla="*/ 4227031 w 4407031"/>
              <a:gd name="connsiteY2" fmla="*/ 0 h 3600000"/>
              <a:gd name="connsiteX3" fmla="*/ 4407031 w 4407031"/>
              <a:gd name="connsiteY3" fmla="*/ 0 h 3600000"/>
              <a:gd name="connsiteX4" fmla="*/ 4407031 w 4407031"/>
              <a:gd name="connsiteY4" fmla="*/ 180000 h 3600000"/>
              <a:gd name="connsiteX5" fmla="*/ 4407031 w 4407031"/>
              <a:gd name="connsiteY5" fmla="*/ 3600000 h 3600000"/>
              <a:gd name="connsiteX6" fmla="*/ 4227031 w 4407031"/>
              <a:gd name="connsiteY6" fmla="*/ 3600000 h 3600000"/>
              <a:gd name="connsiteX7" fmla="*/ 4227031 w 4407031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7031" h="3600000">
                <a:moveTo>
                  <a:pt x="0" y="180000"/>
                </a:moveTo>
                <a:lnTo>
                  <a:pt x="0" y="0"/>
                </a:lnTo>
                <a:lnTo>
                  <a:pt x="4227031" y="0"/>
                </a:lnTo>
                <a:lnTo>
                  <a:pt x="4407031" y="0"/>
                </a:lnTo>
                <a:lnTo>
                  <a:pt x="4407031" y="180000"/>
                </a:lnTo>
                <a:lnTo>
                  <a:pt x="4407031" y="3600000"/>
                </a:lnTo>
                <a:lnTo>
                  <a:pt x="4227031" y="3600000"/>
                </a:lnTo>
                <a:lnTo>
                  <a:pt x="4227031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2451405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9445125-53D2-43B3-8ABC-C88E463BE7DD}"/>
              </a:ext>
            </a:extLst>
          </p:cNvPr>
          <p:cNvSpPr/>
          <p:nvPr userDrawn="1"/>
        </p:nvSpPr>
        <p:spPr>
          <a:xfrm rot="5400000">
            <a:off x="9166516" y="-574515"/>
            <a:ext cx="2450969" cy="3600000"/>
          </a:xfrm>
          <a:custGeom>
            <a:avLst/>
            <a:gdLst>
              <a:gd name="connsiteX0" fmla="*/ 0 w 2450969"/>
              <a:gd name="connsiteY0" fmla="*/ 3600000 h 3600000"/>
              <a:gd name="connsiteX1" fmla="*/ 0 w 2450969"/>
              <a:gd name="connsiteY1" fmla="*/ 0 h 3600000"/>
              <a:gd name="connsiteX2" fmla="*/ 180000 w 2450969"/>
              <a:gd name="connsiteY2" fmla="*/ 0 h 3600000"/>
              <a:gd name="connsiteX3" fmla="*/ 2450969 w 2450969"/>
              <a:gd name="connsiteY3" fmla="*/ 0 h 3600000"/>
              <a:gd name="connsiteX4" fmla="*/ 2450969 w 2450969"/>
              <a:gd name="connsiteY4" fmla="*/ 180000 h 3600000"/>
              <a:gd name="connsiteX5" fmla="*/ 180000 w 2450969"/>
              <a:gd name="connsiteY5" fmla="*/ 180000 h 3600000"/>
              <a:gd name="connsiteX6" fmla="*/ 180000 w 2450969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0969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2450969" y="0"/>
                </a:lnTo>
                <a:lnTo>
                  <a:pt x="2450969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59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Full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67CE6DD-011B-4E2D-9E8A-EFF414E39E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76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5"/>
            <a:ext cx="7560000" cy="36000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E75A4B-2655-4B0E-8D3B-0068F57D3D9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A18EF7D-14D0-4362-B8BD-722D3D54D4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039369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67FF01B-795B-4F5D-87AF-6CAA8DD5D48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F32FC1-1FF6-4874-9835-EB1A90F7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039E70-36A3-46C1-B30E-CA4CC0B36C5D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738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68584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8907576-77BD-4FD0-A9FE-48D249CB435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03794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03794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6363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6363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28931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28931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8989EC4C-4E3F-457F-8CF6-8A88DE68A93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867711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67FB2730-3D12-4D72-AE64-AC3955C5CD9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630280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1" name="Picture Placeholder 25">
            <a:extLst>
              <a:ext uri="{FF2B5EF4-FFF2-40B4-BE49-F238E27FC236}">
                <a16:creationId xmlns:a16="http://schemas.microsoft.com/office/drawing/2014/main" id="{4F2BB90C-4866-4DB3-B05C-0BB7DBFF8EA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392848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FE407FE5-15DF-40F7-B14C-0A04CC30CD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03794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7DD73F77-2E6A-450D-B4AF-8643D8AE1EC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03794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F1CAED2-2A78-4780-A303-060C24C565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66363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4E77CA0B-49F8-4EE9-84A7-AB28FD1CC1E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6363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5D4F2294-CE3A-4705-BCB3-C5DAFA373C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8931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7B49F9AF-7698-444D-8D12-FA0B6A713E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28931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33" name="Picture Placeholder 25">
            <a:extLst>
              <a:ext uri="{FF2B5EF4-FFF2-40B4-BE49-F238E27FC236}">
                <a16:creationId xmlns:a16="http://schemas.microsoft.com/office/drawing/2014/main" id="{6057C2E9-1501-4819-B77D-23A0268DB0F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867711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4" name="Picture Placeholder 25">
            <a:extLst>
              <a:ext uri="{FF2B5EF4-FFF2-40B4-BE49-F238E27FC236}">
                <a16:creationId xmlns:a16="http://schemas.microsoft.com/office/drawing/2014/main" id="{C77B8544-1CEE-4ED4-89E8-ED042673804D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630280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Picture Placeholder 25">
            <a:extLst>
              <a:ext uri="{FF2B5EF4-FFF2-40B4-BE49-F238E27FC236}">
                <a16:creationId xmlns:a16="http://schemas.microsoft.com/office/drawing/2014/main" id="{E1131D92-0382-469E-A358-A2EC5FDCCF3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392848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0EBF36-B9CA-4962-B198-27B56B54E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92197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4D42A7-FF15-4C9E-9657-33DD5BC539D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FA555C0-B108-4047-8AFF-82E05F073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EAA7C-AE70-48A8-B582-013424EB9C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95500" y="1992933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8EA298-DD21-4B69-8125-094245EDF7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4213" y="19929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4C93EFCC-1E62-4200-9E96-2476EE2581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4213" y="34311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8741D874-BD81-4469-AA1C-32517FD7C37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4213" y="48693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FB0B599-DDEF-43E9-A07F-FC328C595BCE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2095500" y="3422739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3FF0857-6431-48DC-BE82-9A93C55CEFB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095500" y="4867850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</p:spTree>
    <p:extLst>
      <p:ext uri="{BB962C8B-B14F-4D97-AF65-F5344CB8AC3E}">
        <p14:creationId xmlns:p14="http://schemas.microsoft.com/office/powerpoint/2010/main" val="2119471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4D42A7-FF15-4C9E-9657-33DD5BC539D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FA555C0-B108-4047-8AFF-82E05F073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EAA7C-AE70-48A8-B582-013424EB9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740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8D39141-3E8E-4545-90DB-291A0E5F13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 lIns="0" tIns="0" rIns="612000" anchor="ctr"/>
          <a:lstStyle>
            <a:lvl1pPr marL="0" indent="0" algn="r">
              <a:lnSpc>
                <a:spcPct val="100000"/>
              </a:lnSpc>
              <a:buNone/>
              <a:defRPr sz="12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0A062-54B3-47F2-9D6A-5BC9575208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9672000" cy="6857999"/>
          </a:xfrm>
          <a:solidFill>
            <a:schemeClr val="tx2">
              <a:alpha val="70000"/>
            </a:schemeClr>
          </a:solidFill>
        </p:spPr>
        <p:txBody>
          <a:bodyPr lIns="1116000" rIns="180000" bIns="756000" anchor="ctr"/>
          <a:lstStyle>
            <a:lvl1pPr algn="l">
              <a:lnSpc>
                <a:spcPct val="65000"/>
              </a:lnSpc>
              <a:defRPr sz="88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9FD1A9-E34B-4888-90DE-493861AD75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17700" y="4508500"/>
            <a:ext cx="3314700" cy="330200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452AC72-D893-4C1A-83BD-9930164D89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17700" y="5180023"/>
            <a:ext cx="3314700" cy="205029"/>
          </a:xfrm>
          <a:ln>
            <a:noFill/>
          </a:ln>
        </p:spPr>
        <p:txBody>
          <a:bodyPr anchor="t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2EEC149-F1BE-4C36-A789-5BF73B40A2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17700" y="5683561"/>
            <a:ext cx="3314700" cy="205029"/>
          </a:xfrm>
          <a:ln>
            <a:noFill/>
          </a:ln>
        </p:spPr>
        <p:txBody>
          <a:bodyPr anchor="t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ECC256E6-6AE8-4950-838C-BE638FB479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17700" y="4821910"/>
            <a:ext cx="3314700" cy="205029"/>
          </a:xfrm>
        </p:spPr>
        <p:txBody>
          <a:bodyPr anchor="t"/>
          <a:lstStyle>
            <a:lvl1pPr marL="0" indent="0">
              <a:buNone/>
              <a:defRPr sz="1000" i="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3185791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5246D-ECE9-473C-953D-D56C3F7B3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946F0-677D-45B4-83B9-FD3BD3FFC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1825625"/>
            <a:ext cx="1080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5BE21-FA72-48F5-9A53-134902BF6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000" y="6192000"/>
            <a:ext cx="7560000" cy="36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79B29-5421-49A7-A511-D916B66A8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5764" y="6241764"/>
            <a:ext cx="270474" cy="270474"/>
          </a:xfrm>
          <a:prstGeom prst="ellipse">
            <a:avLst/>
          </a:prstGeom>
          <a:solidFill>
            <a:schemeClr val="accent1"/>
          </a:solidFill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892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50" r:id="rId12"/>
    <p:sldLayoutId id="214748366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spc="-150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2"/>
        </a:buClr>
        <a:buFont typeface="Arial" panose="020B0604020202020204" pitchFamily="34" charset="0"/>
        <a:buChar char="●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476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2"/>
        </a:buClr>
        <a:buFontTx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96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>
            <a:lumMod val="75000"/>
            <a:lumOff val="25000"/>
          </a:schemeClr>
        </a:buClr>
        <a:buSzPct val="80000"/>
        <a:buFont typeface="Courier New" panose="02070309020205020404" pitchFamily="49" charset="0"/>
        <a:buChar char="o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9060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Doctor pointing on a large display">
            <a:extLst>
              <a:ext uri="{FF2B5EF4-FFF2-40B4-BE49-F238E27FC236}">
                <a16:creationId xmlns:a16="http://schemas.microsoft.com/office/drawing/2014/main" id="{8F02F647-7DBC-4618-AFF3-8CED69C5CDE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8D8E648-93B0-47FF-A306-492EFF7FC4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Package Pricing prediction at mission hospitals</a:t>
            </a:r>
            <a:br>
              <a:rPr lang="en-US" dirty="0"/>
            </a:br>
            <a:endParaRPr lang="en-US" dirty="0"/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C85C272F-FCB2-478D-9E03-EC734D1AB6C0}"/>
              </a:ext>
            </a:extLst>
          </p:cNvPr>
          <p:cNvSpPr/>
          <p:nvPr/>
        </p:nvSpPr>
        <p:spPr bwMode="white">
          <a:xfrm>
            <a:off x="3636284" y="4183216"/>
            <a:ext cx="4104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136CB0-4ED9-43FA-81D5-6D3225795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024" y="4896463"/>
            <a:ext cx="2885950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593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1A13F-A2FF-04C1-134B-3E2A74759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Placeholder 47" descr="Doctor pointing at CAT scans">
            <a:extLst>
              <a:ext uri="{FF2B5EF4-FFF2-40B4-BE49-F238E27FC236}">
                <a16:creationId xmlns:a16="http://schemas.microsoft.com/office/drawing/2014/main" id="{69B353A8-F36F-3759-E6B5-513DCC70166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0000" y="179109"/>
            <a:ext cx="11832000" cy="6513922"/>
          </a:xfr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4DA0B81E-6C67-C6BE-FDBA-E2DE1EB27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BF0015-3E3A-EC37-052F-A77B3CA2D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999" y="808184"/>
            <a:ext cx="10509137" cy="403625"/>
          </a:xfrm>
        </p:spPr>
        <p:txBody>
          <a:bodyPr/>
          <a:lstStyle/>
          <a:p>
            <a:pPr algn="ctr"/>
            <a:r>
              <a:rPr lang="en-US" sz="3000" dirty="0"/>
              <a:t>Building a Stronger Healthcare Network at Mission Hospital</a:t>
            </a:r>
          </a:p>
        </p:txBody>
      </p:sp>
      <p:sp>
        <p:nvSpPr>
          <p:cNvPr id="19" name="object 7" descr="Beige rectangle">
            <a:extLst>
              <a:ext uri="{FF2B5EF4-FFF2-40B4-BE49-F238E27FC236}">
                <a16:creationId xmlns:a16="http://schemas.microsoft.com/office/drawing/2014/main" id="{31C980FE-E7C1-3BC0-FAF5-12131C5F69D8}"/>
              </a:ext>
            </a:extLst>
          </p:cNvPr>
          <p:cNvSpPr/>
          <p:nvPr/>
        </p:nvSpPr>
        <p:spPr bwMode="white">
          <a:xfrm flipV="1">
            <a:off x="683998" y="1536107"/>
            <a:ext cx="10421003" cy="403625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aphicFrame>
        <p:nvGraphicFramePr>
          <p:cNvPr id="116" name="Diagram 115">
            <a:extLst>
              <a:ext uri="{FF2B5EF4-FFF2-40B4-BE49-F238E27FC236}">
                <a16:creationId xmlns:a16="http://schemas.microsoft.com/office/drawing/2014/main" id="{21221433-C1F0-FA44-7EA0-1813A97582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6479098"/>
              </p:ext>
            </p:extLst>
          </p:nvPr>
        </p:nvGraphicFramePr>
        <p:xfrm>
          <a:off x="683998" y="2175513"/>
          <a:ext cx="10421003" cy="3874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995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34AD5-74EB-4E6F-4483-B3DC9A9D22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244" name="Picture 4" descr="Delirium in cancer care | Oncology Buddies">
            <a:extLst>
              <a:ext uri="{FF2B5EF4-FFF2-40B4-BE49-F238E27FC236}">
                <a16:creationId xmlns:a16="http://schemas.microsoft.com/office/drawing/2014/main" id="{8BF03EB3-A4B5-3485-4E6E-3D10094F5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115" y="2128276"/>
            <a:ext cx="3748878" cy="250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1,653,219 Hospital Stock Photos - Free &amp; Royalty-Free Stock Photos from  Dreamstime">
            <a:extLst>
              <a:ext uri="{FF2B5EF4-FFF2-40B4-BE49-F238E27FC236}">
                <a16:creationId xmlns:a16="http://schemas.microsoft.com/office/drawing/2014/main" id="{A6045A51-79C4-609A-8ECB-D21C251CD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365" y="1013851"/>
            <a:ext cx="2966855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Health care systems find that smaller hospitals meet the mission | HFM  Magazine">
            <a:extLst>
              <a:ext uri="{FF2B5EF4-FFF2-40B4-BE49-F238E27FC236}">
                <a16:creationId xmlns:a16="http://schemas.microsoft.com/office/drawing/2014/main" id="{3E5A37DB-F87F-70C2-C454-3340D7584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78" y="831716"/>
            <a:ext cx="333375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 descr="84+ Thousand Hospital Exterior Royalty-Free Images, Stock Photos &amp; Pictures  | Shutterstock">
            <a:extLst>
              <a:ext uri="{FF2B5EF4-FFF2-40B4-BE49-F238E27FC236}">
                <a16:creationId xmlns:a16="http://schemas.microsoft.com/office/drawing/2014/main" id="{1B3A209B-472D-05C3-C9D0-D1B280635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62" y="4182171"/>
            <a:ext cx="3245450" cy="2330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2" name="Picture 12" descr="Hospital prioritizes movement in design | HFM Magazine">
            <a:extLst>
              <a:ext uri="{FF2B5EF4-FFF2-40B4-BE49-F238E27FC236}">
                <a16:creationId xmlns:a16="http://schemas.microsoft.com/office/drawing/2014/main" id="{29DE2C32-87A2-C021-1AD6-0067D12B6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79" y="4283387"/>
            <a:ext cx="3417086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391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1123242-1802-4890-85C8-48524FEB9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Flat Pricing  Vs  Package Pricing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32E52-1B70-4F84-B381-E9D9871504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ED86B65-490B-4A46-9A35-518F306514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9480" y="3570179"/>
            <a:ext cx="5276519" cy="2852392"/>
          </a:xfrm>
        </p:spPr>
        <p:txBody>
          <a:bodyPr/>
          <a:lstStyle/>
          <a:p>
            <a:r>
              <a:rPr lang="en-US" sz="1400" noProof="1">
                <a:latin typeface="Arial" panose="020B0604020202020204" pitchFamily="34" charset="0"/>
                <a:cs typeface="Arial" panose="020B0604020202020204" pitchFamily="34" charset="0"/>
              </a:rPr>
              <a:t>Each item / procedure/ medication is billed separately</a:t>
            </a:r>
          </a:p>
          <a:p>
            <a:r>
              <a:rPr lang="en-US" sz="1400" noProof="1">
                <a:latin typeface="Arial" panose="020B0604020202020204" pitchFamily="34" charset="0"/>
                <a:cs typeface="Arial" panose="020B0604020202020204" pitchFamily="34" charset="0"/>
              </a:rPr>
              <a:t>Total cost varies by Patient</a:t>
            </a:r>
          </a:p>
          <a:p>
            <a:r>
              <a:rPr lang="en-US" sz="1400" noProof="1">
                <a:latin typeface="Arial" panose="020B0604020202020204" pitchFamily="34" charset="0"/>
                <a:cs typeface="Arial" panose="020B0604020202020204" pitchFamily="34" charset="0"/>
              </a:rPr>
              <a:t>Financial risk is on Patient</a:t>
            </a:r>
          </a:p>
          <a:p>
            <a:r>
              <a:rPr lang="en-US" sz="1400" noProof="1">
                <a:latin typeface="Arial" panose="020B0604020202020204" pitchFamily="34" charset="0"/>
                <a:cs typeface="Arial" panose="020B0604020202020204" pitchFamily="34" charset="0"/>
              </a:rPr>
              <a:t>Suitable for hospitals when cost is unpredictable</a:t>
            </a:r>
          </a:p>
          <a:p>
            <a:r>
              <a:rPr lang="en-US" sz="1400" noProof="1">
                <a:latin typeface="Arial" panose="020B0604020202020204" pitchFamily="34" charset="0"/>
                <a:cs typeface="Arial" panose="020B0604020202020204" pitchFamily="34" charset="0"/>
              </a:rPr>
              <a:t>Best for Complex cases</a:t>
            </a:r>
          </a:p>
          <a:p>
            <a:r>
              <a:rPr lang="en-US" sz="1400" noProof="1">
                <a:latin typeface="Arial" panose="020B0604020202020204" pitchFamily="34" charset="0"/>
                <a:cs typeface="Arial" panose="020B0604020202020204" pitchFamily="34" charset="0"/>
              </a:rPr>
              <a:t>Patients cannot estimate the bill</a:t>
            </a:r>
          </a:p>
          <a:p>
            <a:r>
              <a:rPr lang="en-US" sz="1400" noProof="1">
                <a:latin typeface="Arial" panose="020B0604020202020204" pitchFamily="34" charset="0"/>
                <a:cs typeface="Arial" panose="020B0604020202020204" pitchFamily="34" charset="0"/>
              </a:rPr>
              <a:t>Not competitive with other hospitals</a:t>
            </a:r>
          </a:p>
          <a:p>
            <a:endParaRPr lang="en-US" sz="14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0CBFD8E-64DF-4423-A5AD-A669424819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98554" y="2940859"/>
            <a:ext cx="2794309" cy="360445"/>
          </a:xfrm>
        </p:spPr>
        <p:txBody>
          <a:bodyPr/>
          <a:lstStyle/>
          <a:p>
            <a:r>
              <a:rPr lang="en-US" dirty="0"/>
              <a:t>Flat Pricing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39944D4-2F2D-438D-93AE-CFC498C791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1" y="3570180"/>
            <a:ext cx="5388000" cy="2526312"/>
          </a:xfrm>
        </p:spPr>
        <p:txBody>
          <a:bodyPr/>
          <a:lstStyle/>
          <a:p>
            <a:r>
              <a:rPr lang="en-US" sz="1400" noProof="1"/>
              <a:t>A fixed cost quoted before admission</a:t>
            </a:r>
          </a:p>
          <a:p>
            <a:r>
              <a:rPr lang="en-US" sz="1400" noProof="1"/>
              <a:t>Covers consultation, ICU, surgery, ward stay, medication, implants cost etc.</a:t>
            </a:r>
          </a:p>
          <a:p>
            <a:r>
              <a:rPr lang="en-US" sz="1400" noProof="1"/>
              <a:t>Financial risk is on hospital</a:t>
            </a:r>
          </a:p>
          <a:p>
            <a:r>
              <a:rPr lang="en-US" sz="1400" noProof="1"/>
              <a:t>Attractive to Patients</a:t>
            </a:r>
          </a:p>
          <a:p>
            <a:r>
              <a:rPr lang="en-US" sz="1400" noProof="1"/>
              <a:t>Suitable for low clinical complication rate cases</a:t>
            </a:r>
          </a:p>
          <a:p>
            <a:r>
              <a:rPr lang="en-US" sz="1400" noProof="1"/>
              <a:t>Bill is transparent to patients</a:t>
            </a:r>
          </a:p>
          <a:p>
            <a:r>
              <a:rPr lang="en-US" sz="1400" noProof="1"/>
              <a:t>Hospital should do statistical cost analysis to avoid financial risk</a:t>
            </a:r>
          </a:p>
          <a:p>
            <a:endParaRPr lang="en-US" sz="1400" noProof="1"/>
          </a:p>
          <a:p>
            <a:endParaRPr lang="en-US" sz="1400" noProof="1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0937D34-C77C-4A01-8453-A119A44FEA1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04604" y="2917654"/>
            <a:ext cx="2878792" cy="346961"/>
          </a:xfrm>
        </p:spPr>
        <p:txBody>
          <a:bodyPr/>
          <a:lstStyle/>
          <a:p>
            <a:r>
              <a:rPr lang="en-US" dirty="0"/>
              <a:t>Package Pricing</a:t>
            </a:r>
          </a:p>
        </p:txBody>
      </p:sp>
      <p:sp>
        <p:nvSpPr>
          <p:cNvPr id="30" name="object 7" descr="Beige rectangle">
            <a:extLst>
              <a:ext uri="{FF2B5EF4-FFF2-40B4-BE49-F238E27FC236}">
                <a16:creationId xmlns:a16="http://schemas.microsoft.com/office/drawing/2014/main" id="{1E04C292-AE6A-4666-9EA6-9D87F84CB793}"/>
              </a:ext>
            </a:extLst>
          </p:cNvPr>
          <p:cNvSpPr/>
          <p:nvPr/>
        </p:nvSpPr>
        <p:spPr bwMode="white">
          <a:xfrm>
            <a:off x="722099" y="1322786"/>
            <a:ext cx="72871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pic>
        <p:nvPicPr>
          <p:cNvPr id="2050" name="Picture 2" descr="Package box - Free shipping and delivery icons">
            <a:extLst>
              <a:ext uri="{FF2B5EF4-FFF2-40B4-BE49-F238E27FC236}">
                <a16:creationId xmlns:a16="http://schemas.microsoft.com/office/drawing/2014/main" id="{7E5519F7-47E3-D1C9-3155-E74BFD506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857" y="1554872"/>
            <a:ext cx="1153902" cy="1153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rice tag - Free commerce icons">
            <a:extLst>
              <a:ext uri="{FF2B5EF4-FFF2-40B4-BE49-F238E27FC236}">
                <a16:creationId xmlns:a16="http://schemas.microsoft.com/office/drawing/2014/main" id="{0786E805-B6EF-5ACF-9BB3-40C4920EA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757" y="1570452"/>
            <a:ext cx="1153902" cy="1153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9719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FEC56E07-44A7-96A6-C348-7E4CA9D4F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22E037-ACC4-892C-161C-6C9EE5331B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C43DC9E5-42C2-C98D-3D72-B6C69405D6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000" y="1607730"/>
            <a:ext cx="9537686" cy="3884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Demographics: Age, Gender, Weight, Height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Clinical Vitals: Blood Pressure (BP), Pulse, Respiratory Rate (RR), Hemoglobin rate (HB)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 Utilization: ICU stay, Ward stay, Total Length of Stay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Procedure Indicators: Implant usage &amp; cost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Comorbidities: Diabetes, Hypertension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Complaint: KEY_COMPLAINTS_CODE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Variable: Total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hospital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1442D8-E281-A674-1FE1-5B70B722FE41}"/>
              </a:ext>
            </a:extLst>
          </p:cNvPr>
          <p:cNvCxnSpPr/>
          <p:nvPr/>
        </p:nvCxnSpPr>
        <p:spPr>
          <a:xfrm>
            <a:off x="684000" y="1360714"/>
            <a:ext cx="420368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5149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BE787-120E-B926-21CE-37DC96933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532144-55F8-BE6F-5EDA-A12EA32E85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6</a:t>
            </a:fld>
            <a:endParaRPr lang="en-US" noProof="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8B9F39E-D66D-3C87-BC82-90D96FE187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7147424"/>
              </p:ext>
            </p:extLst>
          </p:nvPr>
        </p:nvGraphicFramePr>
        <p:xfrm>
          <a:off x="683999" y="1360714"/>
          <a:ext cx="7027807" cy="4746658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7027807">
                  <a:extLst>
                    <a:ext uri="{9D8B030D-6E8A-4147-A177-3AD203B41FA5}">
                      <a16:colId xmlns:a16="http://schemas.microsoft.com/office/drawing/2014/main" val="2864963099"/>
                    </a:ext>
                  </a:extLst>
                </a:gridCol>
              </a:tblGrid>
              <a:tr h="3390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Codes given to the key complaints faced by the patient: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8067545"/>
                  </a:ext>
                </a:extLst>
              </a:tr>
              <a:tr h="3390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/>
                        <a:t>Adult Congenital Heart Disease (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ACHD)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0" marT="0" marB="0" anchor="ctr"/>
                </a:tc>
                <a:extLst>
                  <a:ext uri="{0D108BD9-81ED-4DB2-BD59-A6C34878D82A}">
                    <a16:rowId xmlns:a16="http://schemas.microsoft.com/office/drawing/2014/main" val="3810850916"/>
                  </a:ext>
                </a:extLst>
              </a:tr>
              <a:tr h="3390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/>
                        <a:t>Coronary Artery Disease – Double Vessel Disease (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CAD-DVD)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0" marT="0" marB="0" anchor="ctr"/>
                </a:tc>
                <a:extLst>
                  <a:ext uri="{0D108BD9-81ED-4DB2-BD59-A6C34878D82A}">
                    <a16:rowId xmlns:a16="http://schemas.microsoft.com/office/drawing/2014/main" val="1837036007"/>
                  </a:ext>
                </a:extLst>
              </a:tr>
              <a:tr h="3390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/>
                        <a:t>Coronary Artery Disease – Single Vessel Disease 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(CAD-SVD)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0" marT="0" marB="0" anchor="ctr"/>
                </a:tc>
                <a:extLst>
                  <a:ext uri="{0D108BD9-81ED-4DB2-BD59-A6C34878D82A}">
                    <a16:rowId xmlns:a16="http://schemas.microsoft.com/office/drawing/2014/main" val="2497377458"/>
                  </a:ext>
                </a:extLst>
              </a:tr>
              <a:tr h="3390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/>
                        <a:t>Coronary Artery Disease – Triple Vessel Disease (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CAD-TVD)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0" marT="0" marB="0" anchor="ctr"/>
                </a:tc>
                <a:extLst>
                  <a:ext uri="{0D108BD9-81ED-4DB2-BD59-A6C34878D82A}">
                    <a16:rowId xmlns:a16="http://schemas.microsoft.com/office/drawing/2014/main" val="2791992146"/>
                  </a:ext>
                </a:extLst>
              </a:tr>
              <a:tr h="3390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/>
                        <a:t>Coronary Artery Disease with Ventricular Septal Defect (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CAD-VSD)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0" marT="0" marB="0" anchor="ctr"/>
                </a:tc>
                <a:extLst>
                  <a:ext uri="{0D108BD9-81ED-4DB2-BD59-A6C34878D82A}">
                    <a16:rowId xmlns:a16="http://schemas.microsoft.com/office/drawing/2014/main" val="1950755839"/>
                  </a:ext>
                </a:extLst>
              </a:tr>
              <a:tr h="3390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/>
                        <a:t>Ostium Secundum Atrial Septal Defect (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OS-ASD)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0" marT="0" marB="0" anchor="ctr"/>
                </a:tc>
                <a:extLst>
                  <a:ext uri="{0D108BD9-81ED-4DB2-BD59-A6C34878D82A}">
                    <a16:rowId xmlns:a16="http://schemas.microsoft.com/office/drawing/2014/main" val="3595761453"/>
                  </a:ext>
                </a:extLst>
              </a:tr>
              <a:tr h="3390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/>
                        <a:t>Other Non-Specific Cardiac Complaints (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other- heart)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0" marT="0" marB="0" anchor="ctr"/>
                </a:tc>
                <a:extLst>
                  <a:ext uri="{0D108BD9-81ED-4DB2-BD59-A6C34878D82A}">
                    <a16:rowId xmlns:a16="http://schemas.microsoft.com/office/drawing/2014/main" val="2566118267"/>
                  </a:ext>
                </a:extLst>
              </a:tr>
              <a:tr h="3390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/>
                        <a:t>Other Respiratory System Complaints (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other- respiratory)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0" marT="0" marB="0" anchor="ctr"/>
                </a:tc>
                <a:extLst>
                  <a:ext uri="{0D108BD9-81ED-4DB2-BD59-A6C34878D82A}">
                    <a16:rowId xmlns:a16="http://schemas.microsoft.com/office/drawing/2014/main" val="681962434"/>
                  </a:ext>
                </a:extLst>
              </a:tr>
              <a:tr h="3390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/>
                        <a:t>Non-Cardiac General Medical Complaints (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other-general)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0" marT="0" marB="0" anchor="ctr"/>
                </a:tc>
                <a:extLst>
                  <a:ext uri="{0D108BD9-81ED-4DB2-BD59-A6C34878D82A}">
                    <a16:rowId xmlns:a16="http://schemas.microsoft.com/office/drawing/2014/main" val="1710238340"/>
                  </a:ext>
                </a:extLst>
              </a:tr>
              <a:tr h="3390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/>
                        <a:t>Neurological or Nervous System Complaints 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(other-nervous)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0" marT="0" marB="0" anchor="ctr"/>
                </a:tc>
                <a:extLst>
                  <a:ext uri="{0D108BD9-81ED-4DB2-BD59-A6C34878D82A}">
                    <a16:rowId xmlns:a16="http://schemas.microsoft.com/office/drawing/2014/main" val="1058503166"/>
                  </a:ext>
                </a:extLst>
              </a:tr>
              <a:tr h="3390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/>
                        <a:t>Tetralogy of Fallot (TOF) or Other Tetralogy-Type Defects (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other-tetralogy)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0" marT="0" marB="0" anchor="ctr"/>
                </a:tc>
                <a:extLst>
                  <a:ext uri="{0D108BD9-81ED-4DB2-BD59-A6C34878D82A}">
                    <a16:rowId xmlns:a16="http://schemas.microsoft.com/office/drawing/2014/main" val="2838909453"/>
                  </a:ext>
                </a:extLst>
              </a:tr>
              <a:tr h="3390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/>
                        <a:t>Post–Myocardial Ventricular Septal Defect 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(PM-VSD)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0" marT="0" marB="0" anchor="ctr"/>
                </a:tc>
                <a:extLst>
                  <a:ext uri="{0D108BD9-81ED-4DB2-BD59-A6C34878D82A}">
                    <a16:rowId xmlns:a16="http://schemas.microsoft.com/office/drawing/2014/main" val="3266442167"/>
                  </a:ext>
                </a:extLst>
              </a:tr>
              <a:tr h="3390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/>
                        <a:t>Rheumatic Heart Disease (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RHD)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0" marT="0" marB="0" anchor="ctr"/>
                </a:tc>
                <a:extLst>
                  <a:ext uri="{0D108BD9-81ED-4DB2-BD59-A6C34878D82A}">
                    <a16:rowId xmlns:a16="http://schemas.microsoft.com/office/drawing/2014/main" val="1463644730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08F3744-3742-7CD4-9500-8DC5B955A78E}"/>
              </a:ext>
            </a:extLst>
          </p:cNvPr>
          <p:cNvCxnSpPr>
            <a:cxnSpLocks/>
          </p:cNvCxnSpPr>
          <p:nvPr/>
        </p:nvCxnSpPr>
        <p:spPr>
          <a:xfrm>
            <a:off x="683999" y="1173428"/>
            <a:ext cx="4681215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BA80D2B9-82AE-90E8-0314-842AFEC67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999" y="653950"/>
            <a:ext cx="7560000" cy="370166"/>
          </a:xfrm>
        </p:spPr>
        <p:txBody>
          <a:bodyPr/>
          <a:lstStyle/>
          <a:p>
            <a:r>
              <a:rPr lang="en-US" dirty="0"/>
              <a:t>Key Complaint code</a:t>
            </a:r>
          </a:p>
        </p:txBody>
      </p:sp>
      <p:pic>
        <p:nvPicPr>
          <p:cNvPr id="4106" name="Picture 10" descr="340B Health Motion Graphic Drug Pricing Program Video - GRAPHEK">
            <a:extLst>
              <a:ext uri="{FF2B5EF4-FFF2-40B4-BE49-F238E27FC236}">
                <a16:creationId xmlns:a16="http://schemas.microsoft.com/office/drawing/2014/main" id="{275DF89F-3496-A6B3-9BA2-DC0E17A4D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550" y="1828800"/>
            <a:ext cx="4809348" cy="3767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8659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F520E-B553-4B58-821F-756E17DF0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999" y="808186"/>
            <a:ext cx="10564221" cy="635024"/>
          </a:xfrm>
        </p:spPr>
        <p:txBody>
          <a:bodyPr/>
          <a:lstStyle/>
          <a:p>
            <a:r>
              <a:rPr lang="en-US" sz="2400" dirty="0"/>
              <a:t>Treatment Cost Distribution and Central Tendency Insights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1FE623-9109-4333-B868-214788FBE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DD34491F-F24C-4DC2-A26D-FA05D593C843}"/>
              </a:ext>
            </a:extLst>
          </p:cNvPr>
          <p:cNvSpPr/>
          <p:nvPr/>
        </p:nvSpPr>
        <p:spPr bwMode="white">
          <a:xfrm>
            <a:off x="722099" y="1322786"/>
            <a:ext cx="10283752" cy="197541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74AD25-3DCC-A7D5-0F37-81804D2F63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" t="9527" r="-208" b="-905"/>
          <a:stretch>
            <a:fillRect/>
          </a:stretch>
        </p:blipFill>
        <p:spPr>
          <a:xfrm>
            <a:off x="1227886" y="1760600"/>
            <a:ext cx="10020335" cy="461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701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A7272-90E6-4D82-C36C-9F4C4C0F9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8E778-72A8-8750-07FC-EF8E3665A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999" y="808186"/>
            <a:ext cx="11269302" cy="635024"/>
          </a:xfrm>
        </p:spPr>
        <p:txBody>
          <a:bodyPr/>
          <a:lstStyle/>
          <a:p>
            <a:r>
              <a:rPr lang="en-US" sz="2800" dirty="0"/>
              <a:t>Clinical Drivers of Hospital Cost:  Correlation 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22C169-0B98-ACA3-6AEB-3E15A11FC1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9F03E882-899B-0239-3B7E-7F586AE47CBD}"/>
              </a:ext>
            </a:extLst>
          </p:cNvPr>
          <p:cNvSpPr/>
          <p:nvPr/>
        </p:nvSpPr>
        <p:spPr bwMode="white">
          <a:xfrm>
            <a:off x="722099" y="1322786"/>
            <a:ext cx="10283752" cy="197541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7E1E0B-DD1B-C2E9-99F2-EF8431C17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417" y="1520327"/>
            <a:ext cx="7763166" cy="487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670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29F2C-9B22-FE1D-6DEF-BB8E6CF94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CAE13-61CF-B3B7-0356-5A325CBFA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999" y="808186"/>
            <a:ext cx="11269302" cy="635024"/>
          </a:xfrm>
        </p:spPr>
        <p:txBody>
          <a:bodyPr/>
          <a:lstStyle/>
          <a:p>
            <a:r>
              <a:rPr lang="en-US" sz="2800" dirty="0"/>
              <a:t>Average Hospital Cost Across Key Complaints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62DC2B-8B9F-ED18-4DBA-E8DDD932E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45BF0C36-D26A-4593-4EB2-3104380745EB}"/>
              </a:ext>
            </a:extLst>
          </p:cNvPr>
          <p:cNvSpPr/>
          <p:nvPr/>
        </p:nvSpPr>
        <p:spPr bwMode="white">
          <a:xfrm>
            <a:off x="722099" y="1322786"/>
            <a:ext cx="9137997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6A417C-E6AF-A980-8ED2-3DC957ACD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192" y="1591557"/>
            <a:ext cx="9430439" cy="474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876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188FA-1F24-D407-CE42-11BF2BF94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AC728-FE90-438C-08F0-0715D0C5C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999" y="808186"/>
            <a:ext cx="11269302" cy="635024"/>
          </a:xfrm>
        </p:spPr>
        <p:txBody>
          <a:bodyPr/>
          <a:lstStyle/>
          <a:p>
            <a:r>
              <a:rPr lang="en-US" sz="2800" dirty="0"/>
              <a:t>Treatment Cost and ICU Days:  Dual-Axis  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43D498-31C8-639A-1B9F-3C41FA94FB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D43894B2-F597-3E53-F180-9E81BEEC3830}"/>
              </a:ext>
            </a:extLst>
          </p:cNvPr>
          <p:cNvSpPr/>
          <p:nvPr/>
        </p:nvSpPr>
        <p:spPr bwMode="white">
          <a:xfrm>
            <a:off x="722099" y="1322786"/>
            <a:ext cx="9137997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F47243-7362-D26E-8C9D-8D62CB5B8E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7" b="1982"/>
          <a:stretch>
            <a:fillRect/>
          </a:stretch>
        </p:blipFill>
        <p:spPr>
          <a:xfrm>
            <a:off x="683999" y="1623465"/>
            <a:ext cx="10177749" cy="4888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040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 descr="Doctor standing in front of a computer&#10;">
            <a:extLst>
              <a:ext uri="{FF2B5EF4-FFF2-40B4-BE49-F238E27FC236}">
                <a16:creationId xmlns:a16="http://schemas.microsoft.com/office/drawing/2014/main" id="{D4AB4507-F77A-44A5-B290-3F3D4817B7B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4592135-A11E-4178-A320-510C4B749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499D5A-91D2-45BF-B204-6FDFFE97F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382" y="2119086"/>
            <a:ext cx="8856607" cy="1713134"/>
          </a:xfrm>
        </p:spPr>
        <p:txBody>
          <a:bodyPr/>
          <a:lstStyle/>
          <a:p>
            <a:pPr algn="ctr">
              <a:lnSpc>
                <a:spcPct val="200000"/>
              </a:lnSpc>
            </a:pPr>
            <a:r>
              <a:rPr lang="en-US" sz="3600" dirty="0"/>
              <a:t>When Should Hospitals Use Package Pricing?</a:t>
            </a:r>
          </a:p>
        </p:txBody>
      </p:sp>
      <p:sp>
        <p:nvSpPr>
          <p:cNvPr id="67" name="object 7" descr="Beige rectangle">
            <a:extLst>
              <a:ext uri="{FF2B5EF4-FFF2-40B4-BE49-F238E27FC236}">
                <a16:creationId xmlns:a16="http://schemas.microsoft.com/office/drawing/2014/main" id="{6167A703-9B37-469C-853D-0CB6C1F4D8F0}"/>
              </a:ext>
            </a:extLst>
          </p:cNvPr>
          <p:cNvSpPr/>
          <p:nvPr/>
        </p:nvSpPr>
        <p:spPr bwMode="white">
          <a:xfrm flipV="1">
            <a:off x="2760218" y="4824498"/>
            <a:ext cx="7121911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836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FD26BA-A66D-6D09-D57B-B1646C8C3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169" y="1181861"/>
            <a:ext cx="6686284" cy="5330377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Package pricing is ideal when:</a:t>
            </a:r>
          </a:p>
          <a:p>
            <a:r>
              <a:rPr lang="en-US" sz="1800" dirty="0"/>
              <a:t>Treatment pathway is standardized</a:t>
            </a:r>
          </a:p>
          <a:p>
            <a:r>
              <a:rPr lang="en-US" sz="1800" dirty="0"/>
              <a:t>Cost variation is low</a:t>
            </a:r>
          </a:p>
          <a:p>
            <a:r>
              <a:rPr lang="en-US" sz="1800" dirty="0"/>
              <a:t>ICU stay and implant usage are predictable</a:t>
            </a:r>
          </a:p>
          <a:p>
            <a:r>
              <a:rPr lang="en-US" sz="1800" dirty="0"/>
              <a:t>Clinical complication rate is low</a:t>
            </a:r>
          </a:p>
          <a:p>
            <a:r>
              <a:rPr lang="en-US" sz="1800" dirty="0"/>
              <a:t>High sample volume (historical data) exists to make prediction</a:t>
            </a:r>
          </a:p>
          <a:p>
            <a:r>
              <a:rPr lang="en-US" sz="1800" dirty="0"/>
              <a:t>Predictability of ML model (R²)  should be high, indicates cost can be predicted accurately using patient and clinical data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/>
              <a:t>High R² indicates stable and consistent cost pattern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/>
              <a:t>Low R² indicates not safe for package pricing </a:t>
            </a:r>
          </a:p>
          <a:p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ED6B55-0C0F-762C-C2AE-9B4D284C50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122" name="Picture 2" descr="Cost - Free healthcare and medical icons">
            <a:extLst>
              <a:ext uri="{FF2B5EF4-FFF2-40B4-BE49-F238E27FC236}">
                <a16:creationId xmlns:a16="http://schemas.microsoft.com/office/drawing/2014/main" id="{01F0AB8A-AF6B-0B9A-C1A4-CFBF756ED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3162" y="1739747"/>
            <a:ext cx="3007605" cy="3007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00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1C4A6-3F20-A55F-759E-9337C2308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FDBE9-FCD5-80BB-6CD0-11792B86F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972" y="497832"/>
            <a:ext cx="10785901" cy="71214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Complaint - Wise Cost Predictability Analysis Using Linear Regression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836E66-B349-E786-8395-7CCDA068C1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153BB8A6-4E99-D1B7-7E38-32929580CCEB}"/>
              </a:ext>
            </a:extLst>
          </p:cNvPr>
          <p:cNvSpPr/>
          <p:nvPr/>
        </p:nvSpPr>
        <p:spPr bwMode="white">
          <a:xfrm flipV="1">
            <a:off x="555972" y="1498327"/>
            <a:ext cx="10416828" cy="35999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66FF2E-5D5E-2A65-E2F2-151BB782D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021747"/>
              </p:ext>
            </p:extLst>
          </p:nvPr>
        </p:nvGraphicFramePr>
        <p:xfrm>
          <a:off x="491958" y="2533691"/>
          <a:ext cx="10913928" cy="2194560"/>
        </p:xfrm>
        <a:graphic>
          <a:graphicData uri="http://schemas.openxmlformats.org/drawingml/2006/table">
            <a:tbl>
              <a:tblPr firstRow="1" lastRow="1">
                <a:tableStyleId>{F2DE63D5-997A-4646-A377-4702673A728D}</a:tableStyleId>
              </a:tblPr>
              <a:tblGrid>
                <a:gridCol w="3530100">
                  <a:extLst>
                    <a:ext uri="{9D8B030D-6E8A-4147-A177-3AD203B41FA5}">
                      <a16:colId xmlns:a16="http://schemas.microsoft.com/office/drawing/2014/main" val="883291324"/>
                    </a:ext>
                  </a:extLst>
                </a:gridCol>
                <a:gridCol w="1845957">
                  <a:extLst>
                    <a:ext uri="{9D8B030D-6E8A-4147-A177-3AD203B41FA5}">
                      <a16:colId xmlns:a16="http://schemas.microsoft.com/office/drawing/2014/main" val="355586360"/>
                    </a:ext>
                  </a:extLst>
                </a:gridCol>
                <a:gridCol w="1845957">
                  <a:extLst>
                    <a:ext uri="{9D8B030D-6E8A-4147-A177-3AD203B41FA5}">
                      <a16:colId xmlns:a16="http://schemas.microsoft.com/office/drawing/2014/main" val="3626199509"/>
                    </a:ext>
                  </a:extLst>
                </a:gridCol>
                <a:gridCol w="1845957">
                  <a:extLst>
                    <a:ext uri="{9D8B030D-6E8A-4147-A177-3AD203B41FA5}">
                      <a16:colId xmlns:a16="http://schemas.microsoft.com/office/drawing/2014/main" val="2161393824"/>
                    </a:ext>
                  </a:extLst>
                </a:gridCol>
                <a:gridCol w="1845957">
                  <a:extLst>
                    <a:ext uri="{9D8B030D-6E8A-4147-A177-3AD203B41FA5}">
                      <a16:colId xmlns:a16="http://schemas.microsoft.com/office/drawing/2014/main" val="912222722"/>
                    </a:ext>
                  </a:extLst>
                </a:gridCol>
              </a:tblGrid>
              <a:tr h="364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Complaint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Count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RMSE (₹)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MAE (₹)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R²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8180050"/>
                  </a:ext>
                </a:extLst>
              </a:tr>
              <a:tr h="364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RHD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40,383.10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30,203.93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0.9970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03028513"/>
                  </a:ext>
                </a:extLst>
              </a:tr>
              <a:tr h="364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other-heart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61,685.09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50,528.97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0.8814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004110"/>
                  </a:ext>
                </a:extLst>
              </a:tr>
              <a:tr h="364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CAD-TVD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194,031.56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133,493.52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0.7816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755630"/>
                  </a:ext>
                </a:extLst>
              </a:tr>
              <a:tr h="364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CAD-DVD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50800" cmpd="dbl"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50800" cmpd="dbl"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171,181.03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50800" cmpd="dbl"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163,054.27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50800" cmpd="dbl"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0.6825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50800" cmpd="dbl"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589567"/>
                  </a:ext>
                </a:extLst>
              </a:tr>
              <a:tr h="364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NONE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50800" cmpd="dbl"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50800" cmpd="dbl"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21,681.99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50800" cmpd="dbl"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16,959.52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50800" cmpd="dbl"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0.3969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50800" cmpd="dbl"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6174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D9B28CE-9936-90D8-BA33-B94B4269FBD7}"/>
              </a:ext>
            </a:extLst>
          </p:cNvPr>
          <p:cNvSpPr txBox="1"/>
          <p:nvPr/>
        </p:nvSpPr>
        <p:spPr>
          <a:xfrm>
            <a:off x="555972" y="4922909"/>
            <a:ext cx="9952293" cy="2637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Root Mean Squared Error (RMSE) – Lower RMSE, better model performance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Mean Absolute Error (MAE) – Lower MAE , predictions are closer to real cost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R-squared (Coefficient of Determination) - Represents the cost variation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R² close to 1.0 → Highly predictable → ideal for package pricing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R² below 0.6 → Unpredictable → risky for package pricing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lnSpc>
                <a:spcPct val="15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3663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3">
            <a:extLst>
              <a:ext uri="{FF2B5EF4-FFF2-40B4-BE49-F238E27FC236}">
                <a16:creationId xmlns:a16="http://schemas.microsoft.com/office/drawing/2014/main" id="{D5F4CB77-84AD-AAC5-00BA-37A594B85DA6}"/>
              </a:ext>
            </a:extLst>
          </p:cNvPr>
          <p:cNvSpPr txBox="1"/>
          <p:nvPr/>
        </p:nvSpPr>
        <p:spPr>
          <a:xfrm>
            <a:off x="2269475" y="2357608"/>
            <a:ext cx="772282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How We Calculate Package Pricing for Eligible Complaints ?</a:t>
            </a:r>
          </a:p>
        </p:txBody>
      </p:sp>
      <p:sp>
        <p:nvSpPr>
          <p:cNvPr id="59" name="object 7" descr="Beige rectangle">
            <a:extLst>
              <a:ext uri="{FF2B5EF4-FFF2-40B4-BE49-F238E27FC236}">
                <a16:creationId xmlns:a16="http://schemas.microsoft.com/office/drawing/2014/main" id="{583BC86F-6591-E5A3-F30C-E61398844607}"/>
              </a:ext>
            </a:extLst>
          </p:cNvPr>
          <p:cNvSpPr/>
          <p:nvPr/>
        </p:nvSpPr>
        <p:spPr bwMode="white">
          <a:xfrm flipV="1">
            <a:off x="2375300" y="3855014"/>
            <a:ext cx="7441400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06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721B7-93F1-B30B-1F5E-99CA2F13E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F2A4DE-7B93-D52C-B37A-C54FF688F7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5DA53C2-E59D-2DF3-6C0C-5BD27F6CE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540098"/>
              </p:ext>
            </p:extLst>
          </p:nvPr>
        </p:nvGraphicFramePr>
        <p:xfrm>
          <a:off x="1342220" y="981789"/>
          <a:ext cx="9507559" cy="4894422"/>
        </p:xfrm>
        <a:graphic>
          <a:graphicData uri="http://schemas.openxmlformats.org/drawingml/2006/table">
            <a:tbl>
              <a:tblPr firstRow="1" lastRow="1">
                <a:tableStyleId>{F2DE63D5-997A-4646-A377-4702673A728D}</a:tableStyleId>
              </a:tblPr>
              <a:tblGrid>
                <a:gridCol w="2094725">
                  <a:extLst>
                    <a:ext uri="{9D8B030D-6E8A-4147-A177-3AD203B41FA5}">
                      <a16:colId xmlns:a16="http://schemas.microsoft.com/office/drawing/2014/main" val="883291324"/>
                    </a:ext>
                  </a:extLst>
                </a:gridCol>
                <a:gridCol w="2209503">
                  <a:extLst>
                    <a:ext uri="{9D8B030D-6E8A-4147-A177-3AD203B41FA5}">
                      <a16:colId xmlns:a16="http://schemas.microsoft.com/office/drawing/2014/main" val="355586360"/>
                    </a:ext>
                  </a:extLst>
                </a:gridCol>
                <a:gridCol w="1987157">
                  <a:extLst>
                    <a:ext uri="{9D8B030D-6E8A-4147-A177-3AD203B41FA5}">
                      <a16:colId xmlns:a16="http://schemas.microsoft.com/office/drawing/2014/main" val="3626199509"/>
                    </a:ext>
                  </a:extLst>
                </a:gridCol>
                <a:gridCol w="1608087">
                  <a:extLst>
                    <a:ext uri="{9D8B030D-6E8A-4147-A177-3AD203B41FA5}">
                      <a16:colId xmlns:a16="http://schemas.microsoft.com/office/drawing/2014/main" val="2161393824"/>
                    </a:ext>
                  </a:extLst>
                </a:gridCol>
                <a:gridCol w="1608087">
                  <a:extLst>
                    <a:ext uri="{9D8B030D-6E8A-4147-A177-3AD203B41FA5}">
                      <a16:colId xmlns:a16="http://schemas.microsoft.com/office/drawing/2014/main" val="912222722"/>
                    </a:ext>
                  </a:extLst>
                </a:gridCol>
              </a:tblGrid>
              <a:tr h="618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Complaint Category</a:t>
                      </a:r>
                      <a:endParaRPr lang="en-US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Full Form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Count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R² Score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Eligibility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8180050"/>
                  </a:ext>
                </a:extLst>
              </a:tr>
              <a:tr h="618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RHD</a:t>
                      </a:r>
                      <a:endParaRPr lang="en-US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Rheumatic Heart Disease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0.9970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rgbClr val="00B050"/>
                          </a:solidFill>
                        </a:rPr>
                        <a:t>✔</a:t>
                      </a:r>
                      <a:r>
                        <a:rPr lang="en-US" b="0" dirty="0"/>
                        <a:t> Eligible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028513"/>
                  </a:ext>
                </a:extLst>
              </a:tr>
              <a:tr h="618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other-heart</a:t>
                      </a:r>
                      <a:endParaRPr lang="en-US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Other Non-Specific Cardiac Complaints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0.8814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rgbClr val="00B050"/>
                          </a:solidFill>
                        </a:rPr>
                        <a:t>✔</a:t>
                      </a:r>
                      <a:r>
                        <a:rPr lang="en-US" b="0" dirty="0"/>
                        <a:t> Eligible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004110"/>
                  </a:ext>
                </a:extLst>
              </a:tr>
              <a:tr h="9913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CAD-TVD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Coronary Artery Disease – Triple Vessel Disease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0.7816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rgbClr val="00B050"/>
                          </a:solidFill>
                        </a:rPr>
                        <a:t>✔</a:t>
                      </a:r>
                      <a:r>
                        <a:rPr lang="en-US" b="0" dirty="0"/>
                        <a:t> Eligible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755630"/>
                  </a:ext>
                </a:extLst>
              </a:tr>
              <a:tr h="9913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CAD-DVD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Coronary Artery Disease – Double Vessel Disease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0.6825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✘</a:t>
                      </a:r>
                      <a:r>
                        <a:rPr lang="en-US" dirty="0"/>
                        <a:t> Not Eligible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22466"/>
                  </a:ext>
                </a:extLst>
              </a:tr>
              <a:tr h="9913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NONE</a:t>
                      </a:r>
                      <a:endParaRPr lang="en-US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Non-Specific / No Major Complaint 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0.3969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✘</a:t>
                      </a:r>
                      <a:r>
                        <a:rPr lang="en-US" b="0" dirty="0"/>
                        <a:t> Not Eligible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342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6201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A5EE7-8CE7-9556-BDDE-E30F52B2A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6EF188-A1CB-FC1A-BEC9-119817E454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4238154B-4BC3-0AFD-94DC-E8B3B86F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999" y="653950"/>
            <a:ext cx="8371866" cy="315534"/>
          </a:xfrm>
        </p:spPr>
        <p:txBody>
          <a:bodyPr/>
          <a:lstStyle/>
          <a:p>
            <a:r>
              <a:rPr lang="en-US" dirty="0"/>
              <a:t>Step-by-Step Pricing Methodology</a:t>
            </a:r>
          </a:p>
        </p:txBody>
      </p:sp>
      <p:sp>
        <p:nvSpPr>
          <p:cNvPr id="4" name="object 7" descr="Beige rectangle">
            <a:extLst>
              <a:ext uri="{FF2B5EF4-FFF2-40B4-BE49-F238E27FC236}">
                <a16:creationId xmlns:a16="http://schemas.microsoft.com/office/drawing/2014/main" id="{013F11C4-AD16-AED9-85C0-41612E9016BF}"/>
              </a:ext>
            </a:extLst>
          </p:cNvPr>
          <p:cNvSpPr/>
          <p:nvPr/>
        </p:nvSpPr>
        <p:spPr bwMode="white">
          <a:xfrm flipV="1">
            <a:off x="683999" y="1145754"/>
            <a:ext cx="7975259" cy="65568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83734B-0E0D-D24D-722D-C55F358DADBC}"/>
              </a:ext>
            </a:extLst>
          </p:cNvPr>
          <p:cNvSpPr txBox="1"/>
          <p:nvPr/>
        </p:nvSpPr>
        <p:spPr>
          <a:xfrm>
            <a:off x="793214" y="1641513"/>
            <a:ext cx="1033382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Remove Cost Outliers, to ensure pricing is based on typic cases, not rare complication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Calculate Mean cost, Median Cost, 75</a:t>
            </a:r>
            <a:r>
              <a:rPr lang="en-US" baseline="30000" dirty="0"/>
              <a:t>th</a:t>
            </a:r>
            <a:r>
              <a:rPr lang="en-US" dirty="0"/>
              <a:t> Percentile Cost (P75)(Represents typical upper-end cost for stable cases)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Apply the below curated package pricing formula: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Package Price = P75 + 10% Safety Buffer  + 15% Profit Margin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P75 - Base price capturing expected clinical variation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10% safety buffer - Covers unforeseen complexity (ICU, extra meds, minor complications)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15% profit margin - Ensures financial sustainability while remaining competitive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This formula can estimate package price including unpredictable operational cost as safety buffer and profit margin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4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1FCF0-825A-76E6-E548-799C565B9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 descr="Doctor standing in front of a computer&#10;">
            <a:extLst>
              <a:ext uri="{FF2B5EF4-FFF2-40B4-BE49-F238E27FC236}">
                <a16:creationId xmlns:a16="http://schemas.microsoft.com/office/drawing/2014/main" id="{CE808D50-84D5-B245-AEEC-6C32E52634F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ACC02B2-88D7-9D70-3F85-DE57603D7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4F6E82-4D86-E80C-1150-596C3602C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382" y="2119086"/>
            <a:ext cx="8856607" cy="1713134"/>
          </a:xfrm>
        </p:spPr>
        <p:txBody>
          <a:bodyPr/>
          <a:lstStyle/>
          <a:p>
            <a:pPr algn="ctr">
              <a:lnSpc>
                <a:spcPct val="200000"/>
              </a:lnSpc>
            </a:pPr>
            <a:r>
              <a:rPr lang="en-US" sz="3600" dirty="0"/>
              <a:t>Improving Package Pricing Decisions Using Machine Learning</a:t>
            </a:r>
          </a:p>
        </p:txBody>
      </p:sp>
      <p:sp>
        <p:nvSpPr>
          <p:cNvPr id="67" name="object 7" descr="Beige rectangle">
            <a:extLst>
              <a:ext uri="{FF2B5EF4-FFF2-40B4-BE49-F238E27FC236}">
                <a16:creationId xmlns:a16="http://schemas.microsoft.com/office/drawing/2014/main" id="{44A6BC13-289E-394A-C9F3-CA2687117E7D}"/>
              </a:ext>
            </a:extLst>
          </p:cNvPr>
          <p:cNvSpPr/>
          <p:nvPr/>
        </p:nvSpPr>
        <p:spPr bwMode="white">
          <a:xfrm flipV="1">
            <a:off x="2760218" y="4824498"/>
            <a:ext cx="7121911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84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FBEE8-A398-327D-5223-A8FFFE3F0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C44E0-CB68-B03C-DEC0-B2A876869C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30DF3D-020E-8D95-562D-BB6200131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971243"/>
              </p:ext>
            </p:extLst>
          </p:nvPr>
        </p:nvGraphicFramePr>
        <p:xfrm>
          <a:off x="418639" y="1024569"/>
          <a:ext cx="10950768" cy="4627084"/>
        </p:xfrm>
        <a:graphic>
          <a:graphicData uri="http://schemas.openxmlformats.org/drawingml/2006/table">
            <a:tbl>
              <a:tblPr firstRow="1" lastRow="1">
                <a:tableStyleId>{F2DE63D5-997A-4646-A377-4702673A728D}</a:tableStyleId>
              </a:tblPr>
              <a:tblGrid>
                <a:gridCol w="2412696">
                  <a:extLst>
                    <a:ext uri="{9D8B030D-6E8A-4147-A177-3AD203B41FA5}">
                      <a16:colId xmlns:a16="http://schemas.microsoft.com/office/drawing/2014/main" val="883291324"/>
                    </a:ext>
                  </a:extLst>
                </a:gridCol>
                <a:gridCol w="2544896">
                  <a:extLst>
                    <a:ext uri="{9D8B030D-6E8A-4147-A177-3AD203B41FA5}">
                      <a16:colId xmlns:a16="http://schemas.microsoft.com/office/drawing/2014/main" val="355586360"/>
                    </a:ext>
                  </a:extLst>
                </a:gridCol>
                <a:gridCol w="2288800">
                  <a:extLst>
                    <a:ext uri="{9D8B030D-6E8A-4147-A177-3AD203B41FA5}">
                      <a16:colId xmlns:a16="http://schemas.microsoft.com/office/drawing/2014/main" val="3626199509"/>
                    </a:ext>
                  </a:extLst>
                </a:gridCol>
                <a:gridCol w="1852188">
                  <a:extLst>
                    <a:ext uri="{9D8B030D-6E8A-4147-A177-3AD203B41FA5}">
                      <a16:colId xmlns:a16="http://schemas.microsoft.com/office/drawing/2014/main" val="2161393824"/>
                    </a:ext>
                  </a:extLst>
                </a:gridCol>
                <a:gridCol w="1852188">
                  <a:extLst>
                    <a:ext uri="{9D8B030D-6E8A-4147-A177-3AD203B41FA5}">
                      <a16:colId xmlns:a16="http://schemas.microsoft.com/office/drawing/2014/main" val="912222722"/>
                    </a:ext>
                  </a:extLst>
                </a:gridCol>
              </a:tblGrid>
              <a:tr h="338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Model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Model Type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Strengths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Weaknesses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Best Use Case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8180050"/>
                  </a:ext>
                </a:extLst>
              </a:tr>
              <a:tr h="978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Logistic Regression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Linear Classification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Simple, fast, easy to interpret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Struggles with non-linear patterns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lower accuracy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Baseline comparison model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028513"/>
                  </a:ext>
                </a:extLst>
              </a:tr>
              <a:tr h="1203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Random Forest</a:t>
                      </a:r>
                      <a:endParaRPr lang="en-US" sz="14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Ensemble of Decision Trees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Handles non-linearity well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Robust to noise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Good overall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Can overfit on small datasets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less interpretable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When moderate complexity and stability are needed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004110"/>
                  </a:ext>
                </a:extLst>
              </a:tr>
              <a:tr h="2106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/>
                        <a:t>XGBoost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Gradient Boosting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Highest accuracy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Best sensitivity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Handles complex relationships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Performs well on structured clinical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Slightly more complex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requires tuning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Best choice for predicting which patients are suitable for package pricing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 w="50800" cmpd="dbl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755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6872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FDF5D-A7F1-C2C5-94C1-D9EE8A72F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5427D0-223B-3783-F200-4ED890DB43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98BD802-DA49-8431-6CA6-B830BE6A4B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765" y="1624243"/>
            <a:ext cx="10861676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Prepared a comprehensive dataset containing:</a:t>
            </a:r>
          </a:p>
          <a:p>
            <a:pPr marL="64770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15000"/>
              <a:buFont typeface="Wingdings" panose="05000000000000000000" pitchFamily="2" charset="2"/>
              <a:buChar char="§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demographics (Age, Gender)</a:t>
            </a:r>
          </a:p>
          <a:p>
            <a:pPr marL="64770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15000"/>
              <a:buFont typeface="Wingdings" panose="05000000000000000000" pitchFamily="2" charset="2"/>
              <a:buChar char="§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Clinical vitals (BP, RR, HR, HB)</a:t>
            </a:r>
          </a:p>
          <a:p>
            <a:pPr marL="64770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15000"/>
              <a:buFont typeface="Wingdings" panose="05000000000000000000" pitchFamily="2" charset="2"/>
              <a:buChar char="§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ICU stay, ward stay, total length of stay</a:t>
            </a:r>
          </a:p>
          <a:p>
            <a:pPr marL="64770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15000"/>
              <a:buFont typeface="Wingdings" panose="05000000000000000000" pitchFamily="2" charset="2"/>
              <a:buChar char="§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Implant usage &amp; cost</a:t>
            </a:r>
          </a:p>
          <a:p>
            <a:pPr marL="64770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15000"/>
              <a:buFont typeface="Wingdings" panose="05000000000000000000" pitchFamily="2" charset="2"/>
              <a:buChar char="§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Diabetes and hypertension indicators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Defined the target variable:</a:t>
            </a:r>
          </a:p>
          <a:p>
            <a:pPr marL="64770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15000"/>
              <a:buFont typeface="Wingdings" panose="05000000000000000000" pitchFamily="2" charset="2"/>
              <a:buChar char="§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→ Suitable for Package Pricing</a:t>
            </a:r>
          </a:p>
          <a:p>
            <a:pPr marL="64770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15000"/>
              <a:buFont typeface="Wingdings" panose="05000000000000000000" pitchFamily="2" charset="2"/>
              <a:buChar char="§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→ Not Suitable (Flat Pricing)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Trained three supervised machine learning models: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15000"/>
              <a:buFont typeface="Wingdings" panose="05000000000000000000" pitchFamily="2" charset="2"/>
              <a:buChar char="§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15000"/>
              <a:buFont typeface="Wingdings" panose="05000000000000000000" pitchFamily="2" charset="2"/>
              <a:buChar char="§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15000"/>
              <a:buFont typeface="Wingdings" panose="05000000000000000000" pitchFamily="2" charset="2"/>
              <a:buChar char="§"/>
            </a:pP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Evaluated performance using:</a:t>
            </a:r>
          </a:p>
          <a:p>
            <a:pPr marL="64770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15000"/>
              <a:buFont typeface="Wingdings" panose="05000000000000000000" pitchFamily="2" charset="2"/>
              <a:buChar char="§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Overall correctness of predictions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770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15000"/>
              <a:buFont typeface="Wingdings" panose="05000000000000000000" pitchFamily="2" charset="2"/>
              <a:buChar char="§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Sensitivity: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Ability to identify patients suitable for package pricing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770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15000"/>
              <a:buFont typeface="Wingdings" panose="05000000000000000000" pitchFamily="2" charset="2"/>
              <a:buChar char="§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Specificity: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Ability to identify patients who should NOT be given package pricing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Selected the best model based on performance and hospital risk considerations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6FFF5A90-7ED6-423A-53AB-FE2C9087A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999" y="653950"/>
            <a:ext cx="7560000" cy="370166"/>
          </a:xfrm>
        </p:spPr>
        <p:txBody>
          <a:bodyPr/>
          <a:lstStyle/>
          <a:p>
            <a:r>
              <a:rPr lang="en-US" dirty="0"/>
              <a:t>How  we build  the  model</a:t>
            </a:r>
          </a:p>
        </p:txBody>
      </p:sp>
      <p:sp>
        <p:nvSpPr>
          <p:cNvPr id="8" name="object 7" descr="Beige rectangle">
            <a:extLst>
              <a:ext uri="{FF2B5EF4-FFF2-40B4-BE49-F238E27FC236}">
                <a16:creationId xmlns:a16="http://schemas.microsoft.com/office/drawing/2014/main" id="{84B6E629-954B-14AF-4DFE-34CB2317E3E2}"/>
              </a:ext>
            </a:extLst>
          </p:cNvPr>
          <p:cNvSpPr/>
          <p:nvPr/>
        </p:nvSpPr>
        <p:spPr bwMode="white">
          <a:xfrm flipV="1">
            <a:off x="683999" y="1165603"/>
            <a:ext cx="5992223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370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Group of people in a science lab working">
            <a:extLst>
              <a:ext uri="{FF2B5EF4-FFF2-40B4-BE49-F238E27FC236}">
                <a16:creationId xmlns:a16="http://schemas.microsoft.com/office/drawing/2014/main" id="{634673D1-FDF8-445C-9EC3-CEE2865DFD8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0000" y="179111"/>
            <a:ext cx="11832000" cy="6513920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D25444F-B85F-42E8-9E0A-A625CA1FD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1017" y="179111"/>
            <a:ext cx="11832000" cy="6513920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D0FB06-2085-443B-B5B7-9CF837FC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09C69-D3CD-4837-8831-CFA5A72454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9" name="object 7" descr="Beige rectangle">
            <a:extLst>
              <a:ext uri="{FF2B5EF4-FFF2-40B4-BE49-F238E27FC236}">
                <a16:creationId xmlns:a16="http://schemas.microsoft.com/office/drawing/2014/main" id="{C18D4C80-3351-4CE2-81E2-859CB0ED6E33}"/>
              </a:ext>
            </a:extLst>
          </p:cNvPr>
          <p:cNvSpPr/>
          <p:nvPr/>
        </p:nvSpPr>
        <p:spPr bwMode="white">
          <a:xfrm flipV="1">
            <a:off x="722099" y="1277067"/>
            <a:ext cx="7441400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cxnSp>
        <p:nvCxnSpPr>
          <p:cNvPr id="220" name="Straight Connector 219" title="callout lines">
            <a:extLst>
              <a:ext uri="{FF2B5EF4-FFF2-40B4-BE49-F238E27FC236}">
                <a16:creationId xmlns:a16="http://schemas.microsoft.com/office/drawing/2014/main" id="{6D3CBD92-3FC6-4065-B640-0EC5D3E27154}"/>
              </a:ext>
            </a:extLst>
          </p:cNvPr>
          <p:cNvCxnSpPr>
            <a:cxnSpLocks/>
          </p:cNvCxnSpPr>
          <p:nvPr/>
        </p:nvCxnSpPr>
        <p:spPr>
          <a:xfrm>
            <a:off x="8503111" y="1864146"/>
            <a:ext cx="0" cy="3253164"/>
          </a:xfrm>
          <a:prstGeom prst="line">
            <a:avLst/>
          </a:prstGeom>
          <a:ln cmpd="sng">
            <a:solidFill>
              <a:schemeClr val="bg1">
                <a:lumMod val="75000"/>
                <a:alpha val="2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Rectangle: Rounded Corners 223" title="Milestone Graphic">
            <a:extLst>
              <a:ext uri="{FF2B5EF4-FFF2-40B4-BE49-F238E27FC236}">
                <a16:creationId xmlns:a16="http://schemas.microsoft.com/office/drawing/2014/main" id="{32C6C159-36D9-466C-9746-BC4CCA0D7E56}"/>
              </a:ext>
            </a:extLst>
          </p:cNvPr>
          <p:cNvSpPr/>
          <p:nvPr/>
        </p:nvSpPr>
        <p:spPr>
          <a:xfrm>
            <a:off x="8415660" y="1667275"/>
            <a:ext cx="1157332" cy="12489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8A111B4-83B6-873D-6631-BE8FE09CC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265555"/>
              </p:ext>
            </p:extLst>
          </p:nvPr>
        </p:nvGraphicFramePr>
        <p:xfrm>
          <a:off x="684000" y="2079431"/>
          <a:ext cx="10799760" cy="1463040"/>
        </p:xfrm>
        <a:graphic>
          <a:graphicData uri="http://schemas.openxmlformats.org/drawingml/2006/table">
            <a:tbl>
              <a:tblPr/>
              <a:tblGrid>
                <a:gridCol w="2699940">
                  <a:extLst>
                    <a:ext uri="{9D8B030D-6E8A-4147-A177-3AD203B41FA5}">
                      <a16:colId xmlns:a16="http://schemas.microsoft.com/office/drawing/2014/main" val="1225869652"/>
                    </a:ext>
                  </a:extLst>
                </a:gridCol>
                <a:gridCol w="2699940">
                  <a:extLst>
                    <a:ext uri="{9D8B030D-6E8A-4147-A177-3AD203B41FA5}">
                      <a16:colId xmlns:a16="http://schemas.microsoft.com/office/drawing/2014/main" val="1636519426"/>
                    </a:ext>
                  </a:extLst>
                </a:gridCol>
                <a:gridCol w="2699940">
                  <a:extLst>
                    <a:ext uri="{9D8B030D-6E8A-4147-A177-3AD203B41FA5}">
                      <a16:colId xmlns:a16="http://schemas.microsoft.com/office/drawing/2014/main" val="3602113854"/>
                    </a:ext>
                  </a:extLst>
                </a:gridCol>
                <a:gridCol w="2699940">
                  <a:extLst>
                    <a:ext uri="{9D8B030D-6E8A-4147-A177-3AD203B41FA5}">
                      <a16:colId xmlns:a16="http://schemas.microsoft.com/office/drawing/2014/main" val="313013716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Model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Accuracy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Sensitivity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Specificity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59489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Logistic Regression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0.515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0.417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0.571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2892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Random Forest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0.697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0.667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0.714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2503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 err="1"/>
                        <a:t>XGBoost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0.697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0.750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0.667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74045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6AF6E27-C17B-4E72-1B65-64580052392C}"/>
              </a:ext>
            </a:extLst>
          </p:cNvPr>
          <p:cNvSpPr txBox="1"/>
          <p:nvPr/>
        </p:nvSpPr>
        <p:spPr>
          <a:xfrm>
            <a:off x="684000" y="4109292"/>
            <a:ext cx="106743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bg1"/>
                </a:solidFill>
              </a:rPr>
              <a:t>XGBoost</a:t>
            </a:r>
            <a:r>
              <a:rPr lang="en-US" b="1" dirty="0">
                <a:solidFill>
                  <a:schemeClr val="bg1"/>
                </a:solidFill>
              </a:rPr>
              <a:t> achieved the highest sensitivity (0.75), meaning it best identifies patients who are </a:t>
            </a:r>
            <a:r>
              <a:rPr lang="en-US" b="1" i="1" dirty="0">
                <a:solidFill>
                  <a:schemeClr val="bg1"/>
                </a:solidFill>
              </a:rPr>
              <a:t>safe</a:t>
            </a:r>
            <a:r>
              <a:rPr lang="en-US" b="1" dirty="0">
                <a:solidFill>
                  <a:schemeClr val="bg1"/>
                </a:solidFill>
              </a:rPr>
              <a:t> to offer package pricing to—minimizing financial risk to the hospital.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Random Forest also performed well, but </a:t>
            </a:r>
            <a:r>
              <a:rPr lang="en-US" b="1" dirty="0" err="1">
                <a:solidFill>
                  <a:schemeClr val="bg1"/>
                </a:solidFill>
              </a:rPr>
              <a:t>XGBoost</a:t>
            </a:r>
            <a:r>
              <a:rPr lang="en-US" b="1" dirty="0">
                <a:solidFill>
                  <a:schemeClr val="bg1"/>
                </a:solidFill>
              </a:rPr>
              <a:t> showed better sensitivity, which is the key metric for hospital financial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823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22E43-C110-41B5-9E8C-BBA2A6D722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84CEA7-D60A-47AE-A867-C557D0005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369" y="394979"/>
            <a:ext cx="7560000" cy="370166"/>
          </a:xfrm>
        </p:spPr>
        <p:txBody>
          <a:bodyPr/>
          <a:lstStyle/>
          <a:p>
            <a:r>
              <a:rPr lang="en-US" dirty="0"/>
              <a:t>Summary of Key Outcomes</a:t>
            </a:r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F173E3BB-F601-4F0E-90AC-4E1473812240}"/>
              </a:ext>
            </a:extLst>
          </p:cNvPr>
          <p:cNvSpPr/>
          <p:nvPr/>
        </p:nvSpPr>
        <p:spPr bwMode="white">
          <a:xfrm flipV="1">
            <a:off x="581368" y="845563"/>
            <a:ext cx="6010857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F1451F-9DF2-A978-42CA-C89BC9D9FA64}"/>
              </a:ext>
            </a:extLst>
          </p:cNvPr>
          <p:cNvSpPr txBox="1"/>
          <p:nvPr/>
        </p:nvSpPr>
        <p:spPr>
          <a:xfrm>
            <a:off x="581368" y="1330990"/>
            <a:ext cx="10763480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Analyzed treatment cost trends across key medical complaints</a:t>
            </a:r>
          </a:p>
          <a:p>
            <a:pPr marL="285750" indent="-285750">
              <a:lnSpc>
                <a:spcPct val="150000"/>
              </a:lnSpc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Cleaned and prepared data, including outlier removal.</a:t>
            </a:r>
          </a:p>
          <a:p>
            <a:pPr marL="285750" indent="-285750">
              <a:lnSpc>
                <a:spcPct val="150000"/>
              </a:lnSpc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Built complaint-wise cost models to measure predictability (R²).</a:t>
            </a:r>
          </a:p>
          <a:p>
            <a:pPr marL="285750" indent="-285750">
              <a:lnSpc>
                <a:spcPct val="150000"/>
              </a:lnSpc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Identified eligible complaints for package pricing (RHD, other-heart, CAD-TVD).</a:t>
            </a:r>
          </a:p>
          <a:p>
            <a:pPr marL="285750" indent="-285750">
              <a:lnSpc>
                <a:spcPct val="150000"/>
              </a:lnSpc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Developed three ML models to predict patient suitability for package pricing</a:t>
            </a:r>
          </a:p>
          <a:p>
            <a:pPr marL="285750" indent="-285750">
              <a:lnSpc>
                <a:spcPct val="150000"/>
              </a:lnSpc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Selected </a:t>
            </a:r>
            <a:r>
              <a:rPr lang="en-US" dirty="0" err="1"/>
              <a:t>XGBoost</a:t>
            </a:r>
            <a:r>
              <a:rPr lang="en-US" dirty="0"/>
              <a:t> as the best model (as it shows highest sensitivity).</a:t>
            </a:r>
          </a:p>
          <a:p>
            <a:pPr marL="285750" indent="-285750">
              <a:lnSpc>
                <a:spcPct val="150000"/>
              </a:lnSpc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Designed a risk-adjusted pricing formula using P75 + buffer + profit margin.</a:t>
            </a:r>
          </a:p>
          <a:p>
            <a:pPr marL="285750" indent="-285750">
              <a:lnSpc>
                <a:spcPct val="150000"/>
              </a:lnSpc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Calculated final package prices after outlier removal.</a:t>
            </a:r>
          </a:p>
          <a:p>
            <a:pPr marL="285750" indent="-285750">
              <a:lnSpc>
                <a:spcPct val="150000"/>
              </a:lnSpc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Delivered a complete decision framework for package vs flat pricing, A robust, evidence-based system that helps hospitals price treatments more safely, transparently, and confidently.</a:t>
            </a:r>
          </a:p>
        </p:txBody>
      </p:sp>
    </p:spTree>
    <p:extLst>
      <p:ext uri="{BB962C8B-B14F-4D97-AF65-F5344CB8AC3E}">
        <p14:creationId xmlns:p14="http://schemas.microsoft.com/office/powerpoint/2010/main" val="6185703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Scientist looking at test tube">
            <a:extLst>
              <a:ext uri="{FF2B5EF4-FFF2-40B4-BE49-F238E27FC236}">
                <a16:creationId xmlns:a16="http://schemas.microsoft.com/office/drawing/2014/main" id="{F923CFB6-5709-405C-8762-B310D3F2195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17F5BF1-88DB-42F2-98A6-4C7FBFC311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r>
              <a:rPr lang="en-US" dirty="0"/>
              <a:t>Thank 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5FEE4F-333C-40EF-B46D-8D25C79C05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17699" y="5180024"/>
            <a:ext cx="5044961" cy="205028"/>
          </a:xfrm>
        </p:spPr>
        <p:txBody>
          <a:bodyPr/>
          <a:lstStyle/>
          <a:p>
            <a:r>
              <a:rPr lang="en-US" dirty="0"/>
              <a:t>priyakatari.analyst@gmail.com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F44DEB-FABF-4ADE-B7EB-29DFAFA3DF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2036674455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F39051-1049-4508-8373-6A289966A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399" y="2238573"/>
            <a:ext cx="10629202" cy="1190427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bject 7" descr="Beige rectangle">
            <a:extLst>
              <a:ext uri="{FF2B5EF4-FFF2-40B4-BE49-F238E27FC236}">
                <a16:creationId xmlns:a16="http://schemas.microsoft.com/office/drawing/2014/main" id="{2D7851E8-1907-4C8A-A16F-E461B5BFA940}"/>
              </a:ext>
            </a:extLst>
          </p:cNvPr>
          <p:cNvSpPr/>
          <p:nvPr/>
        </p:nvSpPr>
        <p:spPr bwMode="white">
          <a:xfrm>
            <a:off x="1204698" y="3586638"/>
            <a:ext cx="7002867" cy="20502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46" name="Group 45" descr="Icon Phone">
            <a:extLst>
              <a:ext uri="{FF2B5EF4-FFF2-40B4-BE49-F238E27FC236}">
                <a16:creationId xmlns:a16="http://schemas.microsoft.com/office/drawing/2014/main" id="{4BB2D73A-DB1F-47D9-9BDA-D6F01A0EDC06}"/>
              </a:ext>
            </a:extLst>
          </p:cNvPr>
          <p:cNvGrpSpPr/>
          <p:nvPr/>
        </p:nvGrpSpPr>
        <p:grpSpPr>
          <a:xfrm>
            <a:off x="1365937" y="5637315"/>
            <a:ext cx="297521" cy="297521"/>
            <a:chOff x="1334697" y="5606075"/>
            <a:chExt cx="360000" cy="360000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C40AF29-F294-4B60-B5B4-56011134948E}"/>
                </a:ext>
              </a:extLst>
            </p:cNvPr>
            <p:cNvSpPr/>
            <p:nvPr/>
          </p:nvSpPr>
          <p:spPr>
            <a:xfrm>
              <a:off x="1423220" y="5624464"/>
              <a:ext cx="257175" cy="257175"/>
            </a:xfrm>
            <a:custGeom>
              <a:avLst/>
              <a:gdLst>
                <a:gd name="connsiteX0" fmla="*/ 0 w 257175"/>
                <a:gd name="connsiteY0" fmla="*/ 163664 h 257175"/>
                <a:gd name="connsiteX1" fmla="*/ 163664 w 257175"/>
                <a:gd name="connsiteY1" fmla="*/ 0 h 257175"/>
                <a:gd name="connsiteX2" fmla="*/ 261323 w 257175"/>
                <a:gd name="connsiteY2" fmla="*/ 97659 h 257175"/>
                <a:gd name="connsiteX3" fmla="*/ 97659 w 257175"/>
                <a:gd name="connsiteY3" fmla="*/ 261323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175" h="257175">
                  <a:moveTo>
                    <a:pt x="0" y="163664"/>
                  </a:moveTo>
                  <a:lnTo>
                    <a:pt x="163664" y="0"/>
                  </a:lnTo>
                  <a:lnTo>
                    <a:pt x="261323" y="97659"/>
                  </a:lnTo>
                  <a:lnTo>
                    <a:pt x="97659" y="261323"/>
                  </a:lnTo>
                  <a:close/>
                </a:path>
              </a:pathLst>
            </a:custGeom>
            <a:noFill/>
            <a:ln w="23813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2F5782C-5E0E-47EA-861C-88990A8D95DF}"/>
                </a:ext>
              </a:extLst>
            </p:cNvPr>
            <p:cNvSpPr/>
            <p:nvPr/>
          </p:nvSpPr>
          <p:spPr>
            <a:xfrm>
              <a:off x="1491815" y="580038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17145 w 9525"/>
                <a:gd name="connsiteY1" fmla="*/ 18098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17145" y="18098"/>
                  </a:lnTo>
                </a:path>
              </a:pathLst>
            </a:custGeom>
            <a:ln w="23813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ACDDF69-03CD-491C-A9E4-08E5726C5BD3}"/>
                </a:ext>
              </a:extLst>
            </p:cNvPr>
            <p:cNvSpPr/>
            <p:nvPr/>
          </p:nvSpPr>
          <p:spPr>
            <a:xfrm>
              <a:off x="1334697" y="5606075"/>
              <a:ext cx="360000" cy="360000"/>
            </a:xfrm>
            <a:custGeom>
              <a:avLst/>
              <a:gdLst>
                <a:gd name="connsiteX0" fmla="*/ 0 w 360000"/>
                <a:gd name="connsiteY0" fmla="*/ 0 h 360000"/>
                <a:gd name="connsiteX1" fmla="*/ 185104 w 360000"/>
                <a:gd name="connsiteY1" fmla="*/ 0 h 360000"/>
                <a:gd name="connsiteX2" fmla="*/ 185104 w 360000"/>
                <a:gd name="connsiteY2" fmla="*/ 172694 h 360000"/>
                <a:gd name="connsiteX3" fmla="*/ 360000 w 360000"/>
                <a:gd name="connsiteY3" fmla="*/ 172694 h 360000"/>
                <a:gd name="connsiteX4" fmla="*/ 360000 w 360000"/>
                <a:gd name="connsiteY4" fmla="*/ 360000 h 360000"/>
                <a:gd name="connsiteX5" fmla="*/ 0 w 360000"/>
                <a:gd name="connsiteY5" fmla="*/ 360000 h 360000"/>
                <a:gd name="connsiteX0" fmla="*/ 185104 w 360000"/>
                <a:gd name="connsiteY0" fmla="*/ 172694 h 360000"/>
                <a:gd name="connsiteX1" fmla="*/ 360000 w 360000"/>
                <a:gd name="connsiteY1" fmla="*/ 172694 h 360000"/>
                <a:gd name="connsiteX2" fmla="*/ 360000 w 360000"/>
                <a:gd name="connsiteY2" fmla="*/ 360000 h 360000"/>
                <a:gd name="connsiteX3" fmla="*/ 0 w 360000"/>
                <a:gd name="connsiteY3" fmla="*/ 360000 h 360000"/>
                <a:gd name="connsiteX4" fmla="*/ 0 w 360000"/>
                <a:gd name="connsiteY4" fmla="*/ 0 h 360000"/>
                <a:gd name="connsiteX5" fmla="*/ 185104 w 360000"/>
                <a:gd name="connsiteY5" fmla="*/ 0 h 360000"/>
                <a:gd name="connsiteX6" fmla="*/ 276544 w 360000"/>
                <a:gd name="connsiteY6" fmla="*/ 264134 h 360000"/>
                <a:gd name="connsiteX0" fmla="*/ 185104 w 360000"/>
                <a:gd name="connsiteY0" fmla="*/ 172694 h 360000"/>
                <a:gd name="connsiteX1" fmla="*/ 360000 w 360000"/>
                <a:gd name="connsiteY1" fmla="*/ 172694 h 360000"/>
                <a:gd name="connsiteX2" fmla="*/ 360000 w 360000"/>
                <a:gd name="connsiteY2" fmla="*/ 360000 h 360000"/>
                <a:gd name="connsiteX3" fmla="*/ 0 w 360000"/>
                <a:gd name="connsiteY3" fmla="*/ 360000 h 360000"/>
                <a:gd name="connsiteX4" fmla="*/ 0 w 360000"/>
                <a:gd name="connsiteY4" fmla="*/ 0 h 360000"/>
                <a:gd name="connsiteX5" fmla="*/ 185104 w 360000"/>
                <a:gd name="connsiteY5" fmla="*/ 0 h 360000"/>
                <a:gd name="connsiteX0" fmla="*/ 360000 w 360000"/>
                <a:gd name="connsiteY0" fmla="*/ 172694 h 360000"/>
                <a:gd name="connsiteX1" fmla="*/ 360000 w 360000"/>
                <a:gd name="connsiteY1" fmla="*/ 360000 h 360000"/>
                <a:gd name="connsiteX2" fmla="*/ 0 w 360000"/>
                <a:gd name="connsiteY2" fmla="*/ 360000 h 360000"/>
                <a:gd name="connsiteX3" fmla="*/ 0 w 360000"/>
                <a:gd name="connsiteY3" fmla="*/ 0 h 360000"/>
                <a:gd name="connsiteX4" fmla="*/ 185104 w 360000"/>
                <a:gd name="connsiteY4" fmla="*/ 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000" h="360000">
                  <a:moveTo>
                    <a:pt x="360000" y="172694"/>
                  </a:moveTo>
                  <a:lnTo>
                    <a:pt x="360000" y="360000"/>
                  </a:lnTo>
                  <a:lnTo>
                    <a:pt x="0" y="360000"/>
                  </a:lnTo>
                  <a:lnTo>
                    <a:pt x="0" y="0"/>
                  </a:lnTo>
                  <a:lnTo>
                    <a:pt x="185104" y="0"/>
                  </a:lnTo>
                </a:path>
              </a:pathLst>
            </a:custGeom>
            <a:noFill/>
            <a:ln w="9525" cap="flat">
              <a:solidFill>
                <a:schemeClr val="bg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50" name="Group 49" descr="Icon Email">
            <a:extLst>
              <a:ext uri="{FF2B5EF4-FFF2-40B4-BE49-F238E27FC236}">
                <a16:creationId xmlns:a16="http://schemas.microsoft.com/office/drawing/2014/main" id="{F7F47E31-EB9A-4529-BE0F-A1213B79FE07}"/>
              </a:ext>
            </a:extLst>
          </p:cNvPr>
          <p:cNvGrpSpPr/>
          <p:nvPr/>
        </p:nvGrpSpPr>
        <p:grpSpPr>
          <a:xfrm>
            <a:off x="1365937" y="5133777"/>
            <a:ext cx="297521" cy="297521"/>
            <a:chOff x="1334697" y="5102537"/>
            <a:chExt cx="360000" cy="360000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99C0ACA-AA85-4505-A8DF-0275634D7832}"/>
                </a:ext>
              </a:extLst>
            </p:cNvPr>
            <p:cNvGrpSpPr/>
            <p:nvPr/>
          </p:nvGrpSpPr>
          <p:grpSpPr>
            <a:xfrm>
              <a:off x="1413695" y="5129259"/>
              <a:ext cx="257175" cy="257175"/>
              <a:chOff x="1423220" y="5138784"/>
              <a:chExt cx="257175" cy="257175"/>
            </a:xfrm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85AA236B-9A92-4808-B7BB-0AEF3FD2754B}"/>
                  </a:ext>
                </a:extLst>
              </p:cNvPr>
              <p:cNvSpPr/>
              <p:nvPr/>
            </p:nvSpPr>
            <p:spPr>
              <a:xfrm>
                <a:off x="1423220" y="5138784"/>
                <a:ext cx="257175" cy="257175"/>
              </a:xfrm>
              <a:custGeom>
                <a:avLst/>
                <a:gdLst>
                  <a:gd name="connsiteX0" fmla="*/ 0 w 257175"/>
                  <a:gd name="connsiteY0" fmla="*/ 163664 h 257175"/>
                  <a:gd name="connsiteX1" fmla="*/ 163664 w 257175"/>
                  <a:gd name="connsiteY1" fmla="*/ 0 h 257175"/>
                  <a:gd name="connsiteX2" fmla="*/ 261323 w 257175"/>
                  <a:gd name="connsiteY2" fmla="*/ 97659 h 257175"/>
                  <a:gd name="connsiteX3" fmla="*/ 97659 w 257175"/>
                  <a:gd name="connsiteY3" fmla="*/ 261323 h 25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75" h="257175">
                    <a:moveTo>
                      <a:pt x="0" y="163664"/>
                    </a:moveTo>
                    <a:lnTo>
                      <a:pt x="163664" y="0"/>
                    </a:lnTo>
                    <a:lnTo>
                      <a:pt x="261323" y="97659"/>
                    </a:lnTo>
                    <a:lnTo>
                      <a:pt x="97659" y="261323"/>
                    </a:lnTo>
                    <a:close/>
                  </a:path>
                </a:pathLst>
              </a:custGeom>
              <a:noFill/>
              <a:ln w="23813" cap="flat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4E72230-A0A3-4A80-AD64-FE14B4AA1A95}"/>
                  </a:ext>
                </a:extLst>
              </p:cNvPr>
              <p:cNvSpPr/>
              <p:nvPr/>
            </p:nvSpPr>
            <p:spPr>
              <a:xfrm>
                <a:off x="1427045" y="5144212"/>
                <a:ext cx="161925" cy="161925"/>
              </a:xfrm>
              <a:custGeom>
                <a:avLst/>
                <a:gdLst>
                  <a:gd name="connsiteX0" fmla="*/ 0 w 161925"/>
                  <a:gd name="connsiteY0" fmla="*/ 162878 h 161925"/>
                  <a:gd name="connsiteX1" fmla="*/ 141923 w 161925"/>
                  <a:gd name="connsiteY1" fmla="*/ 135255 h 161925"/>
                  <a:gd name="connsiteX2" fmla="*/ 162878 w 161925"/>
                  <a:gd name="connsiteY2" fmla="*/ 0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1925" h="161925">
                    <a:moveTo>
                      <a:pt x="0" y="162878"/>
                    </a:moveTo>
                    <a:lnTo>
                      <a:pt x="141923" y="135255"/>
                    </a:lnTo>
                    <a:lnTo>
                      <a:pt x="162878" y="0"/>
                    </a:lnTo>
                  </a:path>
                </a:pathLst>
              </a:custGeom>
              <a:noFill/>
              <a:ln w="23813" cap="flat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01D119F-74E1-4482-B664-AAD0BB5B651F}"/>
                </a:ext>
              </a:extLst>
            </p:cNvPr>
            <p:cNvSpPr/>
            <p:nvPr/>
          </p:nvSpPr>
          <p:spPr>
            <a:xfrm>
              <a:off x="1334697" y="5102537"/>
              <a:ext cx="360000" cy="360000"/>
            </a:xfrm>
            <a:custGeom>
              <a:avLst/>
              <a:gdLst>
                <a:gd name="connsiteX0" fmla="*/ 0 w 360000"/>
                <a:gd name="connsiteY0" fmla="*/ 0 h 360000"/>
                <a:gd name="connsiteX1" fmla="*/ 185104 w 360000"/>
                <a:gd name="connsiteY1" fmla="*/ 0 h 360000"/>
                <a:gd name="connsiteX2" fmla="*/ 185104 w 360000"/>
                <a:gd name="connsiteY2" fmla="*/ 172694 h 360000"/>
                <a:gd name="connsiteX3" fmla="*/ 360000 w 360000"/>
                <a:gd name="connsiteY3" fmla="*/ 172694 h 360000"/>
                <a:gd name="connsiteX4" fmla="*/ 360000 w 360000"/>
                <a:gd name="connsiteY4" fmla="*/ 360000 h 360000"/>
                <a:gd name="connsiteX5" fmla="*/ 0 w 360000"/>
                <a:gd name="connsiteY5" fmla="*/ 360000 h 360000"/>
                <a:gd name="connsiteX0" fmla="*/ 185104 w 360000"/>
                <a:gd name="connsiteY0" fmla="*/ 172694 h 360000"/>
                <a:gd name="connsiteX1" fmla="*/ 360000 w 360000"/>
                <a:gd name="connsiteY1" fmla="*/ 172694 h 360000"/>
                <a:gd name="connsiteX2" fmla="*/ 360000 w 360000"/>
                <a:gd name="connsiteY2" fmla="*/ 360000 h 360000"/>
                <a:gd name="connsiteX3" fmla="*/ 0 w 360000"/>
                <a:gd name="connsiteY3" fmla="*/ 360000 h 360000"/>
                <a:gd name="connsiteX4" fmla="*/ 0 w 360000"/>
                <a:gd name="connsiteY4" fmla="*/ 0 h 360000"/>
                <a:gd name="connsiteX5" fmla="*/ 185104 w 360000"/>
                <a:gd name="connsiteY5" fmla="*/ 0 h 360000"/>
                <a:gd name="connsiteX6" fmla="*/ 276544 w 360000"/>
                <a:gd name="connsiteY6" fmla="*/ 264134 h 360000"/>
                <a:gd name="connsiteX0" fmla="*/ 185104 w 360000"/>
                <a:gd name="connsiteY0" fmla="*/ 172694 h 360000"/>
                <a:gd name="connsiteX1" fmla="*/ 360000 w 360000"/>
                <a:gd name="connsiteY1" fmla="*/ 172694 h 360000"/>
                <a:gd name="connsiteX2" fmla="*/ 360000 w 360000"/>
                <a:gd name="connsiteY2" fmla="*/ 360000 h 360000"/>
                <a:gd name="connsiteX3" fmla="*/ 0 w 360000"/>
                <a:gd name="connsiteY3" fmla="*/ 360000 h 360000"/>
                <a:gd name="connsiteX4" fmla="*/ 0 w 360000"/>
                <a:gd name="connsiteY4" fmla="*/ 0 h 360000"/>
                <a:gd name="connsiteX5" fmla="*/ 185104 w 360000"/>
                <a:gd name="connsiteY5" fmla="*/ 0 h 360000"/>
                <a:gd name="connsiteX0" fmla="*/ 360000 w 360000"/>
                <a:gd name="connsiteY0" fmla="*/ 172694 h 360000"/>
                <a:gd name="connsiteX1" fmla="*/ 360000 w 360000"/>
                <a:gd name="connsiteY1" fmla="*/ 360000 h 360000"/>
                <a:gd name="connsiteX2" fmla="*/ 0 w 360000"/>
                <a:gd name="connsiteY2" fmla="*/ 360000 h 360000"/>
                <a:gd name="connsiteX3" fmla="*/ 0 w 360000"/>
                <a:gd name="connsiteY3" fmla="*/ 0 h 360000"/>
                <a:gd name="connsiteX4" fmla="*/ 185104 w 360000"/>
                <a:gd name="connsiteY4" fmla="*/ 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000" h="360000">
                  <a:moveTo>
                    <a:pt x="360000" y="172694"/>
                  </a:moveTo>
                  <a:lnTo>
                    <a:pt x="360000" y="360000"/>
                  </a:lnTo>
                  <a:lnTo>
                    <a:pt x="0" y="360000"/>
                  </a:lnTo>
                  <a:lnTo>
                    <a:pt x="0" y="0"/>
                  </a:lnTo>
                  <a:lnTo>
                    <a:pt x="185104" y="0"/>
                  </a:lnTo>
                </a:path>
              </a:pathLst>
            </a:custGeom>
            <a:noFill/>
            <a:ln w="9525" cap="flat">
              <a:solidFill>
                <a:schemeClr val="bg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B8732E1-C1A8-62AE-776A-FA4D295E0274}"/>
              </a:ext>
            </a:extLst>
          </p:cNvPr>
          <p:cNvSpPr txBox="1">
            <a:spLocks/>
          </p:cNvSpPr>
          <p:nvPr/>
        </p:nvSpPr>
        <p:spPr>
          <a:xfrm>
            <a:off x="1365937" y="4698192"/>
            <a:ext cx="5044961" cy="20502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None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44767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62865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None/>
              <a:defRPr sz="1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80962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For queries contact us at:</a:t>
            </a:r>
          </a:p>
        </p:txBody>
      </p:sp>
    </p:spTree>
    <p:extLst>
      <p:ext uri="{BB962C8B-B14F-4D97-AF65-F5344CB8AC3E}">
        <p14:creationId xmlns:p14="http://schemas.microsoft.com/office/powerpoint/2010/main" val="3476954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 Healthcare Pitch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MS Healthcare Pitch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2"/>
            </a:gs>
            <a:gs pos="100000">
              <a:schemeClr val="accent2"/>
            </a:gs>
          </a:gsLst>
          <a:lin ang="1440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MB Healthcare Pitch Deck SB_v3" id="{F20654C3-30CB-4A23-AE37-CA3918CCFD51}" vid="{71C4247B-9648-406B-9B0E-E712402798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66BDC7-24D2-4343-8D41-18F9C23F86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4BDB64-2AF8-42D4-96C8-B6B6F098993C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33BAED8-F9E7-4D41-86E9-333473F909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Healthcare office pitch deck</Template>
  <TotalTime>958</TotalTime>
  <Words>1214</Words>
  <Application>Microsoft Office PowerPoint</Application>
  <PresentationFormat>Widescreen</PresentationFormat>
  <Paragraphs>236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</vt:lpstr>
      <vt:lpstr>Calibri</vt:lpstr>
      <vt:lpstr>Courier New</vt:lpstr>
      <vt:lpstr>Gill Sans MT</vt:lpstr>
      <vt:lpstr>Wingdings</vt:lpstr>
      <vt:lpstr>Office Theme</vt:lpstr>
      <vt:lpstr>Package Pricing prediction at mission hospitals </vt:lpstr>
      <vt:lpstr>Building a Stronger Healthcare Network at Mission Hospital</vt:lpstr>
      <vt:lpstr>PowerPoint Presentation</vt:lpstr>
      <vt:lpstr>Flat Pricing  Vs  Package Pricing</vt:lpstr>
      <vt:lpstr>Dataset overview</vt:lpstr>
      <vt:lpstr>Key Complaint code</vt:lpstr>
      <vt:lpstr>Treatment Cost Distribution and Central Tendency Insights</vt:lpstr>
      <vt:lpstr>Clinical Drivers of Hospital Cost:  Correlation  Analysis</vt:lpstr>
      <vt:lpstr>Average Hospital Cost Across Key Complaints</vt:lpstr>
      <vt:lpstr>Treatment Cost and ICU Days:  Dual-Axis  View</vt:lpstr>
      <vt:lpstr>When Should Hospitals Use Package Pricing?</vt:lpstr>
      <vt:lpstr>PowerPoint Presentation</vt:lpstr>
      <vt:lpstr>Complaint - Wise Cost Predictability Analysis Using Linear Regression</vt:lpstr>
      <vt:lpstr>PowerPoint Presentation</vt:lpstr>
      <vt:lpstr>PowerPoint Presentation</vt:lpstr>
      <vt:lpstr>Step-by-Step Pricing Methodology</vt:lpstr>
      <vt:lpstr>Improving Package Pricing Decisions Using Machine Learning</vt:lpstr>
      <vt:lpstr>PowerPoint Presentation</vt:lpstr>
      <vt:lpstr>How  we build  the  model</vt:lpstr>
      <vt:lpstr>Model Performance Comparison</vt:lpstr>
      <vt:lpstr>Summary of Key Outcomes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 Katari</dc:creator>
  <cp:lastModifiedBy>Raghu Ram Baskaran</cp:lastModifiedBy>
  <cp:revision>4</cp:revision>
  <dcterms:created xsi:type="dcterms:W3CDTF">2025-12-05T02:48:27Z</dcterms:created>
  <dcterms:modified xsi:type="dcterms:W3CDTF">2026-02-13T21:24:14Z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